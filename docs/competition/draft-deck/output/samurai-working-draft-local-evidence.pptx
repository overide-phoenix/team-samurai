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472de2c8e4ac5" /><Relationship Type="http://schemas.openxmlformats.org/officeDocument/2006/relationships/extended-properties" Target="/docProps/app.xml" Id="Rd5e77fcadf8c4422" /><Relationship Type="http://schemas.openxmlformats.org/officeDocument/2006/relationships/officeDocument" Target="/ppt/presentation.xml" Id="R3b6cbc8e61e54e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dbc315e79435f"/>
  </p:sldMasterIdLst>
  <p:notesMasterIdLst>
    <p:notesMasterId xmlns:r="http://schemas.openxmlformats.org/officeDocument/2006/relationships" r:id="Rb0a07a3377184bca"/>
  </p:notesMasterIdLst>
  <p:sldIdLst>
    <p:sldId xmlns:r="http://schemas.openxmlformats.org/officeDocument/2006/relationships" id="256" r:id="R1fb426c1e4234404"/>
    <p:sldId xmlns:r="http://schemas.openxmlformats.org/officeDocument/2006/relationships" id="257" r:id="Re6283c15900249d5"/>
    <p:sldId xmlns:r="http://schemas.openxmlformats.org/officeDocument/2006/relationships" id="258" r:id="R63340a2f659044c7"/>
    <p:sldId xmlns:r="http://schemas.openxmlformats.org/officeDocument/2006/relationships" id="259" r:id="Rd9b34a96ef4346a6"/>
    <p:sldId xmlns:r="http://schemas.openxmlformats.org/officeDocument/2006/relationships" id="260" r:id="R4136587ee6c946a2"/>
    <p:sldId xmlns:r="http://schemas.openxmlformats.org/officeDocument/2006/relationships" id="261" r:id="R5cb75de171c94f7f"/>
    <p:sldId xmlns:r="http://schemas.openxmlformats.org/officeDocument/2006/relationships" id="262" r:id="R5e34ebbd86cc4f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250069d93a4680" /><Relationship Type="http://schemas.openxmlformats.org/officeDocument/2006/relationships/slideMaster" Target="/ppt/slideMasters/slideMaster1.xml" Id="Rbd3dbc315e79435f" /><Relationship Type="http://schemas.openxmlformats.org/officeDocument/2006/relationships/notesMaster" Target="/ppt/notesMasters/notesMaster1.xml" Id="Rb0a07a3377184bca" /><Relationship Type="http://schemas.openxmlformats.org/officeDocument/2006/relationships/presProps" Target="/ppt/presProps.xml" Id="Ra9ead332570446fe" /><Relationship Type="http://schemas.openxmlformats.org/officeDocument/2006/relationships/tableStyles" Target="/ppt/tableStyles.xml" Id="Rddb155b8ed854c0c" /><Relationship Type="http://schemas.openxmlformats.org/officeDocument/2006/relationships/slide" Target="/ppt/slides/slide1.xml" Id="R1fb426c1e4234404" /><Relationship Type="http://schemas.openxmlformats.org/officeDocument/2006/relationships/slide" Target="/ppt/slides/slide2.xml" Id="Re6283c15900249d5" /><Relationship Type="http://schemas.openxmlformats.org/officeDocument/2006/relationships/slide" Target="/ppt/slides/slide3.xml" Id="R63340a2f659044c7" /><Relationship Type="http://schemas.openxmlformats.org/officeDocument/2006/relationships/slide" Target="/ppt/slides/slide4.xml" Id="Rd9b34a96ef4346a6" /><Relationship Type="http://schemas.openxmlformats.org/officeDocument/2006/relationships/slide" Target="/ppt/slides/slide5.xml" Id="R4136587ee6c946a2" /><Relationship Type="http://schemas.openxmlformats.org/officeDocument/2006/relationships/slide" Target="/ppt/slides/slide6.xml" Id="R5cb75de171c94f7f" /><Relationship Type="http://schemas.openxmlformats.org/officeDocument/2006/relationships/slide" Target="/ppt/slides/slide7.xml" Id="R5e34ebbd86cc4f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8d0b49b02145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356613bbf448a9" /><Relationship Type="http://schemas.openxmlformats.org/officeDocument/2006/relationships/notesMaster" Target="/ppt/notesMasters/notesMaster1.xml" Id="R68697c9ac6b14a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821e929ec41e4" /><Relationship Type="http://schemas.openxmlformats.org/officeDocument/2006/relationships/notesMaster" Target="/ppt/notesMasters/notesMaster1.xml" Id="Re915a65b811c46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c364267014982" /><Relationship Type="http://schemas.openxmlformats.org/officeDocument/2006/relationships/notesMaster" Target="/ppt/notesMasters/notesMaster1.xml" Id="R92c0069a9a63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f93627fed44bc6" /><Relationship Type="http://schemas.openxmlformats.org/officeDocument/2006/relationships/notesMaster" Target="/ppt/notesMasters/notesMaster1.xml" Id="Rdbbc287044b342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835aca30e04f5a" /><Relationship Type="http://schemas.openxmlformats.org/officeDocument/2006/relationships/notesMaster" Target="/ppt/notesMasters/notesMaster1.xml" Id="R865582e38ad645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4a6f6b1504336" /><Relationship Type="http://schemas.openxmlformats.org/officeDocument/2006/relationships/notesMaster" Target="/ppt/notesMasters/notesMaster1.xml" Id="R6377486168e4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b3b43c8a2414e" /><Relationship Type="http://schemas.openxmlformats.org/officeDocument/2006/relationships/notesMaster" Target="/ppt/notesMasters/notesMaster1.xml" Id="R6089c7c91d8a48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 boundary: This is a local draft, not a final submission or template-matched asset.</a:t>
            </a:r>
          </a:p>
          <a:p xmlns:a="http://schemas.openxmlformats.org/drawingml/2006/main">
            <a:r>
              <a:t>Evidence: docs/competition/demo-script.md (2026-10-13 public requirements basis and inaccessible template note).</a:t>
            </a:r>
          </a:p>
          <a:p xmlns:a="http://schemas.openxmlformats.org/drawingml/2006/main">
            <a:r>
              <a:t>Asset: assets/samurai-logo/samurai-transparent.png, checked as a local brand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founder journey only. No clinic-market, pricing, customer, revenue, or traction claim.</a:t>
            </a:r>
          </a:p>
          <a:p xmlns:a="http://schemas.openxmlformats.org/drawingml/2006/main">
            <a:r>
              <a:t>Evidence: docs/competition/demo-script.md, storyboard 0:00–0:35; docs/competition/solution-description.md.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diagram. It communicates the product contract, not a screenshot or a claim of a live end-to-end run.</a:t>
            </a:r>
          </a:p>
          <a:p xmlns:a="http://schemas.openxmlformats.org/drawingml/2006/main">
            <a:r>
              <a:t>Evidence: AGENTS.md, 'Chosen product' and 'Proposed agent responsibilities'; docs/architecture.md sections 'Product boundary' and 'Agent boundaries'.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deployed evidence: docs/gcp-deployment.md lines 261–282 describes a prior IAP sign-in, fictional dental-receptionist brief, reload, and named source revisions.</a:t>
            </a:r>
          </a:p>
          <a:p xmlns:a="http://schemas.openxmlformats.org/drawingml/2006/main">
            <a:r>
              <a:t>Current local evidence: task-10 commit 76c9884763198af480c2bd96c959d7d8ff104356 and task-10/DoneClaim.md say provider-free local acceptance only.</a:t>
            </a:r>
          </a:p>
          <a:p xmlns:a="http://schemas.openxmlformats.org/drawingml/2006/main">
            <a:r>
              <a:t>Current cloud-resumability and current Gemini/provider acceptance are not claimed. Paid upgrade remains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illustrative control-flow example, not a live source assessment.</a:t>
            </a:r>
          </a:p>
          <a:p xmlns:a="http://schemas.openxmlformats.org/drawingml/2006/main">
            <a:r>
              <a:t>Evidence: docs/competition/demo-script.md, storyboard 0:35–1:35; docs/competition/source-support.md; docs/competition/source-support.json is intentionally empty.</a:t>
            </a:r>
          </a:p>
          <a:p xmlns:a="http://schemas.openxmlformats.org/drawingml/2006/main">
            <a:r>
              <a:t>No competitor, demand, price, or market claim appears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6: .omo/evidence/readiness/task-6/independent-verification.md, implementation 201f0f7... plus format-only aa07b46....</a:t>
            </a:r>
          </a:p>
          <a:p xmlns:a="http://schemas.openxmlformats.org/drawingml/2006/main">
            <a:r>
              <a:t>Task 7: local terminal UI acceptance; caller-supplied binding 1a4c6a9. Task 10: .omo/evidence/readiness/task-10/DoneClaim.md, 76c9884.... Task 9: docs/architecture.md, 1f841e7 local acceptance.</a:t>
            </a:r>
          </a:p>
          <a:p xmlns:a="http://schemas.openxmlformats.org/drawingml/2006/main">
            <a:r>
              <a:t>Founder schema c4a6e70 and incomplete shared-workspaces runtime are caller-provided acceptance boundary. Live second Google-account isolation was skipped; docs/gcp-deployment.md line 279 records that gap.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status: this is a prepared local draft, not final Task 14 completion.</a:t>
            </a:r>
          </a:p>
          <a:p xmlns:a="http://schemas.openxmlformats.org/drawingml/2006/main">
            <a:r>
              <a:t>Required future evidence: docs/competition/demo-script.md 'Current acceptance boundary'; .omo/plans/samurai-production-competition-readiness.md Task 14.</a:t>
            </a:r>
          </a:p>
          <a:p xmlns:a="http://schemas.openxmlformats.org/drawingml/2006/main">
            <a:r>
              <a:t>Template URL was inaccessible during a bounded read-only check. No portal, cloud, account, publication, or provider mutation occurred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732b382554e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b2c078e054a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f9d51cb0f41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5ce6a4e2240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fe1d772824d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d3a47b3cf44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BC19C8-4F26-45C7-A28C-1A6EA2E46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857339-661A-42BB-95ED-DFC761E462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E374B9-1B94-42AE-AAC4-A84A020A6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82FC65-3E2A-4603-AC16-354748658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0F547F-D08A-40C1-9C47-C88933180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79CBA5-94A4-4286-938E-4AF848FBC9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AD2F8F-B1C6-4991-BC04-25349040A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367FD9-BF41-48E1-88B2-ED9616B185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C07E9-E015-4CD3-81F5-CB29CC8CB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91E988-73AE-4B23-A8B5-9B3EBF11F8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4e036455548d5" /><Relationship Type="http://schemas.openxmlformats.org/officeDocument/2006/relationships/slideLayout" Target="/ppt/slideLayouts/slideLayout1.xml" Id="R5fe33c70a7e54ca5" /><Relationship Type="http://schemas.openxmlformats.org/officeDocument/2006/relationships/slideLayout" Target="/ppt/slideLayouts/slideLayout2.xml" Id="R113dd5e0a0e140c0" /><Relationship Type="http://schemas.openxmlformats.org/officeDocument/2006/relationships/slideLayout" Target="/ppt/slideLayouts/slideLayout3.xml" Id="R3c4b62104bbc46a9" /><Relationship Type="http://schemas.openxmlformats.org/officeDocument/2006/relationships/slideLayout" Target="/ppt/slideLayouts/slideLayout4.xml" Id="R47197c6377be4cc5" /><Relationship Type="http://schemas.openxmlformats.org/officeDocument/2006/relationships/slideLayout" Target="/ppt/slideLayouts/slideLayout5.xml" Id="R0a4c0f93089c4dde" /><Relationship Type="http://schemas.openxmlformats.org/officeDocument/2006/relationships/slideLayout" Target="/ppt/slideLayouts/slideLayout6.xml" Id="Racb7d8066d5a42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e33c70a7e54ca5"/>
    <p:sldLayoutId xmlns:r="http://schemas.openxmlformats.org/officeDocument/2006/relationships" id="2147483650" r:id="R113dd5e0a0e140c0"/>
    <p:sldLayoutId xmlns:r="http://schemas.openxmlformats.org/officeDocument/2006/relationships" id="2147483651" r:id="R3c4b62104bbc46a9"/>
    <p:sldLayoutId xmlns:r="http://schemas.openxmlformats.org/officeDocument/2006/relationships" id="2147483652" r:id="R47197c6377be4cc5"/>
    <p:sldLayoutId xmlns:r="http://schemas.openxmlformats.org/officeDocument/2006/relationships" id="2147483653" r:id="R0a4c0f93089c4dde"/>
    <p:sldLayoutId xmlns:r="http://schemas.openxmlformats.org/officeDocument/2006/relationships" id="2147483654" r:id="Racb7d8066d5a42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8b0b0484e4891" /><Relationship Type="http://schemas.openxmlformats.org/officeDocument/2006/relationships/image" Target="/ppt/media/image.png" Id="Ra5342cde54004db6" /><Relationship Type="http://schemas.openxmlformats.org/officeDocument/2006/relationships/notesSlide" Target="/ppt/notesSlides/notesSlide1.xml" Id="R33df4ad4638149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28e151b424577" /><Relationship Type="http://schemas.openxmlformats.org/officeDocument/2006/relationships/notesSlide" Target="/ppt/notesSlides/notesSlide2.xml" Id="R0806552fdb2d43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0f45e7c744f9f" /><Relationship Type="http://schemas.openxmlformats.org/officeDocument/2006/relationships/notesSlide" Target="/ppt/notesSlides/notesSlide3.xml" Id="Rddc329261f8c4f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eb18809664d73" /><Relationship Type="http://schemas.openxmlformats.org/officeDocument/2006/relationships/notesSlide" Target="/ppt/notesSlides/notesSlide4.xml" Id="R331fa1b4ff364e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822e542c84a30" /><Relationship Type="http://schemas.openxmlformats.org/officeDocument/2006/relationships/notesSlide" Target="/ppt/notesSlides/notesSlide5.xml" Id="R8d42a255ef4b43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11b67031a4acc" /><Relationship Type="http://schemas.openxmlformats.org/officeDocument/2006/relationships/notesSlide" Target="/ppt/notesSlides/notesSlide6.xml" Id="R9a1c1294e639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a7d1ff62040f0" /><Relationship Type="http://schemas.openxmlformats.org/officeDocument/2006/relationships/notesSlide" Target="/ppt/notesSlides/notesSlide7.xml" Id="R502fb90224a149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4B58F-11DD-43D2-B4DD-C6B7D7E53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42cde54004db6"/>
          <a:stretch xmlns:a="http://schemas.openxmlformats.org/drawingml/2006/main"/>
        </p:blipFill>
        <p:spPr>
          <a:xfrm xmlns:a="http://schemas.openxmlformats.org/drawingml/2006/main">
            <a:off x="685800" y="5334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DB26C-EE96-44C1-A9FB-F6209C66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62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SAMURAI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3561B-7F76-4BE1-9A83-BBFB0AC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of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A3BF9-E103-4501-994C-8983085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676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 i="0">
                <a:solidFill>
                  <a:srgbClr val="DDE8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 i="0">
                <a:solidFill>
                  <a:srgbClr val="DDE8F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E8F3"/>
                </a:solidFill>
                <a:latin typeface="Arial"/>
                <a:ea typeface="Arial"/>
                <a:cs typeface="Arial"/>
              </a:rPr>
              <a:t>One founder workspace for company-building work that keeps evidence, decisions, and artifacts connected.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C7B13-AB86-453E-B6AD-38B1D72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810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3656"/>
          </a:solidFill>
          <a:ln xmlns:a="http://schemas.openxmlformats.org/drawingml/2006/main" w="9525">
            <a:solidFill>
              <a:srgbClr val="3652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2A5A4-69BD-4E1E-9207-F3D951F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196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8E5DF"/>
                </a:solidFill>
                <a:latin typeface="Arial"/>
                <a:ea typeface="Arial"/>
                <a:cs typeface="Arial"/>
              </a:rPr>
              <a:t>WORKING DRAFT  • 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C647-6874-463F-8E93-D79F2BC9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Editable PPTX + rendered PDF</a:t>
            </a:r>
          </a:p>
          <a:p xmlns:a="http://schemas.openxmlformats.org/drawingml/2006/main">
            <a:pPr>
              <a:defRPr sz="112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Template matching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643611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9DB09-9D9B-4BD4-8DE5-6B27CA4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WORKING DRAFT  •  LOCAL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E8C2F-1C3F-4AD3-9708-986E45BA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SAMURAI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B4D91-2F3A-4735-8D1F-5D7377E7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EB6BC-6427-4271-B61A-8DD69BE2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FF707-4CB6-4F95-ADFC-8D3B974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03B75-F494-4896-A59A-8FC1E5B2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Founders need one place to turn an idea into accountable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337A5-711E-42C6-A1A9-58102008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Illustrative founder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81C09-E094-405D-883C-7E5505A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13B"/>
          </a:solidFill>
          <a:ln xmlns:a="http://schemas.openxmlformats.org/drawingml/2006/main" w="9525">
            <a:solidFill>
              <a:srgbClr val="102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CAB1F-84A9-466B-9738-5CF7F416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“Build my business:</a:t>
            </a:r>
          </a:p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AI receptionist for Indian dental clinics.”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232A1-4A8B-4D76-9EA6-D836DFE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C6D4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C6D4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6D4E1"/>
                </a:solidFill>
                <a:latin typeface="Arial"/>
                <a:ea typeface="Arial"/>
                <a:cs typeface="Arial"/>
              </a:rPr>
              <a:t>A founder statement, not market proof.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CF512-FF1B-4E86-BE13-B7F67862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E1E55-F785-430F-8A0B-536807BA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289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BACD0-83A4-432E-9837-EC179E1C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623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Keep the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C391B-A550-4226-8AF1-466ABF2D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1005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idea, unknowns, next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B74C3-CB43-48FC-A3C2-FD7001E2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E7C42-6715-489B-867C-A6054A6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289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31760-E165-4DAD-9833-FE9963A7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Separate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AF924-935C-4241-B736-4A43A4F5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facts, assumptions, measured outcomes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2B471-88B6-4B96-9C62-59E007B6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E0537-589B-43E8-BD56-D80161A3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289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4FFD6-6E11-4CB4-83B5-12D2114D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5623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Ask for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96C61-4983-40F1-B52B-C04AC5DF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21005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before consequential work advances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FD3E0-7E14-4BB3-86D2-0A84653D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The local draft shows a product direction, not a claim of customer validation, demand, pricing, revenue, or traction.</a:t>
            </a:r>
          </a:p>
        </p:txBody>
      </p:sp>
    </p:spTree>
    <p:extLst>
      <p:ext uri="{BB962C8B-B14F-4D97-AF65-F5344CB8AC3E}">
        <p14:creationId xmlns:p14="http://schemas.microsoft.com/office/powerpoint/2010/main" val="495817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E5438-7CBE-40A7-B4AA-7EF28D9B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WORKING DRAFT  •  LOCAL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95EEE-A80C-4F13-A8DE-D266F970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SAMURAI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9AA0C-3E10-4E3E-A96C-458A08F5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01F8F-B7A1-4E75-86C1-309A04CC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14115-A82F-460B-A49C-E9F0D131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53FE3-6062-4B09-AC88-4C8B2866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Samurai organizes one workflow around a founder’s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3238E-0C2B-4103-B8F4-B12BBB1E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190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B"/>
          </a:solidFill>
          <a:ln xmlns:a="http://schemas.openxmlformats.org/drawingml/2006/main" w="9525">
            <a:solidFill>
              <a:srgbClr val="1021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D95AF-DAF0-4458-BF29-39EF99C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Founder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419F3-A4CE-4EDA-9867-4B35694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founder said</a:t>
            </a:r>
          </a:p>
          <a:p xmlns:a="http://schemas.openxmlformats.org/drawingml/2006/main">
            <a: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what is still 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5D9C1-8AA3-4433-AB57-F117E09E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C88BE-6F0B-4F0F-8944-0B3ED19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190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9F1EF"/>
          </a:solidFill>
          <a:ln xmlns:a="http://schemas.openxmlformats.org/drawingml/2006/main" w="9525">
            <a:solidFill>
              <a:srgbClr val="D9F1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D2FD7-C92D-4E19-B1A4-BF2B411F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Evidence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5B1FE-625E-4F28-B45E-9C842E1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943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Sources, support status,</a:t>
            </a:r>
          </a:p>
          <a:p xmlns:a="http://schemas.openxmlformats.org/drawingml/2006/main">
            <a:pPr>
              <a:defRPr sz="1125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and visible conflicts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F7DC7-EEF5-43C4-AFE8-8F76F6FD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62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C29E5-E5CF-4201-A268-3F25E11D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190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E6D6"/>
          </a:solidFill>
          <a:ln xmlns:a="http://schemas.openxmlformats.org/drawingml/2006/main" w="9525">
            <a:solidFill>
              <a:srgbClr val="EDE6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67EB2-0E98-43BB-97F6-3BCD868A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Founder approval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BE533-FD79-436E-A8A6-5E102AC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A bounded decision</a:t>
            </a:r>
          </a:p>
          <a:p xmlns:a="http://schemas.openxmlformats.org/drawingml/2006/main">
            <a:pPr>
              <a:defRPr sz="1125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before work moves 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6C3E6-CB85-4197-9F9F-A8BB0D0C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F8F7F-E367-4991-A560-E606B6C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190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AA6A0"/>
          </a:solidFill>
          <a:ln xmlns:a="http://schemas.openxmlformats.org/drawingml/2006/main" w="9525">
            <a:solidFill>
              <a:srgbClr val="1AA6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93CE7-A47F-4D76-91B0-0293597B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Connected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BEC96-CBED-4700-A99E-2AF7A097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43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Research, strategy, and</a:t>
            </a:r>
          </a:p>
          <a:p xmlns:a="http://schemas.openxmlformats.org/drawingml/2006/main">
            <a: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execution retain lineage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93C50-E106-48F3-AC40-5A98629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The diagram is editable and describes intended workflow behavior. It does not represent a new captured user session.</a:t>
            </a:r>
          </a:p>
        </p:txBody>
      </p:sp>
    </p:spTree>
    <p:extLst>
      <p:ext uri="{BB962C8B-B14F-4D97-AF65-F5344CB8AC3E}">
        <p14:creationId xmlns:p14="http://schemas.microsoft.com/office/powerpoint/2010/main" val="1974995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D57A8-0CAD-46B3-80F0-34BE4DA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WORKING DRAFT  •  LOCAL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740A2-58AC-4584-88E1-634E56E0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SAMURAI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EA53C-6FA4-478E-9328-2CD36143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F7779-8982-4B2F-9F1C-D25B2757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487AF-CF0A-4349-8FB2-1D34E00C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GENAI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ECCBA-397C-43F0-8605-7A4045DD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Gemini is part of the reasoning design; evidence status depends on the exact environment.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7CAD3-D7A1-4E57-89EE-FB1F1A33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5000625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5A455-D8D7-4F1F-A6EB-AE120309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13B"/>
                </a:solidFill>
                <a:latin typeface="Arial"/>
                <a:ea typeface="Arial"/>
                <a:cs typeface="Arial"/>
              </a:rPr>
              <a:t>Historical deployed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8598B-05AA-47A2-959B-54DD6B92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979B6-D47D-4AD7-A2F0-767E694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A prior Cloud Run/IAP acceptance recorded a bounded Gemini-backed brief and reload at its recorded revision.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46EFF-BFED-4524-A9E3-14AC8A0A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Historical evidence only. It does not say this local draft is deployed.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7D152-EBE8-4D06-BB77-4EFC272D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286375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213B"/>
          </a:solidFill>
          <a:ln xmlns:a="http://schemas.openxmlformats.org/drawingml/2006/main" w="9525">
            <a:solidFill>
              <a:srgbClr val="102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9C822-3171-4A6D-826C-6A726CFD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432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local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4D011-A56F-4E1A-97A2-0BA01A66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909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9152A-B279-4414-9D9B-9085369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Provider-free acceptance covers recovery, UI terminal states, and readiness boundaries without a new provider call.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39731-83E2-49B6-96DC-A79B33E9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14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E5DF"/>
                </a:solidFill>
                <a:latin typeface="Arial"/>
                <a:ea typeface="Arial"/>
                <a:cs typeface="Arial"/>
              </a:rPr>
              <a:t>Current cloud queue, current Gemini use, and paid upgrade remain deferred.</a:t>
            </a:r>
          </a:p>
        </p:txBody>
      </p:sp>
    </p:spTree>
    <p:extLst>
      <p:ext uri="{BB962C8B-B14F-4D97-AF65-F5344CB8AC3E}">
        <p14:creationId xmlns:p14="http://schemas.microsoft.com/office/powerpoint/2010/main" val="1517985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F7D69-973C-41D4-8C2A-E5909FBF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WORKING DRAFT  •  LOCAL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EB1D0-FE3A-437C-B28F-804C331B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SAMURAI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8709E-3B0D-4514-94FD-A2FA2E2B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1A25D-96F2-449A-887C-FACE8EF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6CAA5-2C1D-4083-9F16-A6BE3D8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RELIABILITY OF THE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90E4D-25A4-4557-A453-B7454FB0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The verifier keeps unsupported claims visible instead of decorating a pitch.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06C69-69E6-4DC1-B641-9E918EF6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66712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9A3A8-E74E-40BB-9C98-3570D211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13B"/>
                </a:solidFill>
                <a:latin typeface="Arial"/>
                <a:ea typeface="Arial"/>
                <a:cs typeface="Arial"/>
              </a:rPr>
              <a:t>Founder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96933-CEF3-438D-A3E0-C5918D6C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 i="1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1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C1B33"/>
                </a:solidFill>
                <a:latin typeface="Arial"/>
                <a:ea typeface="Arial"/>
                <a:cs typeface="Arial"/>
              </a:rPr>
              <a:t>“Clinics need this service.”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F9421-0B9B-408F-8508-058AA9A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Recorded as input, not promoted to fact.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94DEB-D701-425C-95E2-92CE946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19375"/>
            <a:ext cx="309562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9F1EF"/>
          </a:solidFill>
          <a:ln xmlns:a="http://schemas.openxmlformats.org/drawingml/2006/main" w="9525">
            <a:solidFill>
              <a:srgbClr val="D9F1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D5701-3944-45C2-B256-A752FEC3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00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13B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2704D-88AF-4885-901D-9F5FAB95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956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Support 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847CF-59B2-4D69-8EB7-5274D71A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The claim stays unresolved until sources actually support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37712-A45A-4D0B-80B3-D7552C49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32385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13B"/>
          </a:solidFill>
          <a:ln xmlns:a="http://schemas.openxmlformats.org/drawingml/2006/main" w="9525">
            <a:solidFill>
              <a:srgbClr val="1021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C1549-E873-422F-A05E-26BC9CB5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0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Founder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8E357-1EAD-42EE-9520-798488D6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9567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 source support before strategy.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F1B9D-1E55-4291-85D3-44B16EB6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43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 i="0">
                <a:solidFill>
                  <a:srgbClr val="C6D4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C6D4E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6D4E1"/>
                </a:solidFill>
                <a:latin typeface="Arial"/>
                <a:ea typeface="Arial"/>
                <a:cs typeface="Arial"/>
              </a:rPr>
              <a:t>The next step stays bounded and reviewable.</a:t>
            </a:r>
          </a:p>
        </p:txBody>
      </p:sp>
    </p:spTree>
    <p:extLst>
      <p:ext uri="{BB962C8B-B14F-4D97-AF65-F5344CB8AC3E}">
        <p14:creationId xmlns:p14="http://schemas.microsoft.com/office/powerpoint/2010/main" val="980788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B005E-1520-4986-ACEC-992DB2D7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WORKING DRAFT  •  LOCAL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185A2-43ED-406F-A598-0425DA88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SAMURAI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BCE68-99DD-4DB6-8178-63822AD8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23620-B464-4A65-9720-2E7615A1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3E162-9A9A-4228-9619-5B7EDE8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WHAT HAS BEEN VERIFIED LOCALLY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AE35D-0F72-40FD-8768-E71A88A2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 i="0">
                <a:solidFill>
                  <a:srgbClr val="0C1B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C1B33"/>
                </a:solidFill>
                <a:latin typeface="Arial"/>
                <a:ea typeface="Arial"/>
                <a:cs typeface="Arial"/>
              </a:rPr>
              <a:t>Local acceptance gives the draft a reliability baseline, with clear limits.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BC05A-5809-465A-8E0B-5DC37A6A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4288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FF3F5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0B58B-C387-4894-B13D-06742177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13B"/>
                </a:solidFill>
                <a:latin typeface="Arial"/>
                <a:ea typeface="Arial"/>
                <a:cs typeface="Arial"/>
              </a:rPr>
              <a:t>Durable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93FAB-A89A-47B3-8D19-4982C65A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201f0f7</a:t>
            </a:r>
          </a:p>
          <a:p xmlns:a="http://schemas.openxmlformats.org/drawingml/2006/main">
            <a: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formatted aa07b46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26713-6889-4482-8F1D-9AD347D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Native queue recovery and cancellation passed locally.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F8623-4508-4A07-A8F6-180F86FC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24288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62B33-7293-42E2-964C-F3864AD0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52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13B"/>
                </a:solidFill>
                <a:latin typeface="Arial"/>
                <a:ea typeface="Arial"/>
                <a:cs typeface="Arial"/>
              </a:rPr>
              <a:t>Founder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1BD74-4C88-446B-A41D-20DD287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528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1a4c6a9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A5B68-815B-4CD6-AE04-B3F5882F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624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Terminal cancellation and exhaustion states passed locally.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28581-2D14-407E-BB67-0C33C04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4288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FF3F5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AC640-DB32-4621-ADDC-0C9EC01C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13B"/>
                </a:solidFill>
                <a:latin typeface="Arial"/>
                <a:ea typeface="Arial"/>
                <a:cs typeface="Arial"/>
              </a:rPr>
              <a:t>Readiness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56BB7-2034-4FFD-A4E1-C02E1D72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528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76c9884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50E63-3B44-4685-8D8E-89E21024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624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Provider-free boundary journey passed locally.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05248-0074-4DA2-B060-17FB7E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4288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BF6EB-B755-4536-A665-15F7553B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13B"/>
                </a:solidFill>
                <a:latin typeface="Arial"/>
                <a:ea typeface="Arial"/>
                <a:cs typeface="Arial"/>
              </a:rPr>
              <a:t>Local onboarding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0029A-9EB2-4D6B-90C6-332FFD8F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528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AA6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A6A0"/>
                </a:solidFill>
                <a:latin typeface="Arial"/>
                <a:ea typeface="Arial"/>
                <a:cs typeface="Arial"/>
              </a:rPr>
              <a:t>1f841e7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22724-1CA9-4BED-8035-5723018A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624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Provider-free setup/CI wiring was locally accepted.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992E9-DDAE-4FA1-B25F-BB5BD72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174"/>
                </a:solidFill>
                <a:latin typeface="Arial"/>
                <a:ea typeface="Arial"/>
                <a:cs typeface="Arial"/>
              </a:rPr>
              <a:t>Founder schema c4a6e70 is locally accepted. Shared-workspaces runtime, current cloud recovery, live second-account isolation, and paid upgrade are not complete.</a:t>
            </a:r>
          </a:p>
        </p:txBody>
      </p:sp>
    </p:spTree>
    <p:extLst>
      <p:ext uri="{BB962C8B-B14F-4D97-AF65-F5344CB8AC3E}">
        <p14:creationId xmlns:p14="http://schemas.microsoft.com/office/powerpoint/2010/main" val="1932870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1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68ED0-232F-4BA6-920D-DBAF1073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8E5DF"/>
                </a:solidFill>
                <a:latin typeface="Arial"/>
                <a:ea typeface="Arial"/>
                <a:cs typeface="Arial"/>
              </a:rPr>
              <a:t>WORKING DRAFT  •  LOCAL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0C6D3-1A3C-4546-B810-4C8A3DB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draft has a useful role.</a:t>
            </a:r>
          </a:p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not Task 14 complete.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5FC5-F27B-4FB4-BABE-CA338D40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1CFD8-4EBC-4397-A895-6712E0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76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 and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6696-8291-4323-BC75-7DEEE24A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D5E0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5E0E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E0EA"/>
                </a:solidFill>
                <a:latin typeface="Arial"/>
                <a:ea typeface="Arial"/>
                <a:cs typeface="Arial"/>
              </a:rPr>
              <a:t>Confirm the actual template, category choice, team status, and fields through an authorized account.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2E221-9274-4B43-9A43-A37C9D4A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F904F-5DE4-4287-A7D5-EB3D47DB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9DC52-4A80-4B27-BE7D-882A9075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814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D5E0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5E0E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E0EA"/>
                </a:solidFill>
                <a:latin typeface="Arial"/>
                <a:ea typeface="Arial"/>
                <a:cs typeface="Arial"/>
              </a:rPr>
              <a:t>Bind current cloud, Gemini, recovery, and source-support evidence to the exact submission revision.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6D453-4E56-463E-8AAB-00FA219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06D5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6D5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E1C33-A0C1-434C-B939-D67A73A9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5AC11-B9D1-4FC0-AFBE-CFB52590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D5E0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5E0E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E0EA"/>
                </a:solidFill>
                <a:latin typeface="Arial"/>
                <a:ea typeface="Arial"/>
                <a:cs typeface="Arial"/>
              </a:rPr>
              <a:t>Create and review the video, public links, evaluator access arrangement, and final submission receipt.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AC2B7-BCF4-4488-9B46-B6969D1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8E5D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8E5DF"/>
                </a:solidFill>
                <a:latin typeface="Arial"/>
                <a:ea typeface="Arial"/>
                <a:cs typeface="Arial"/>
              </a:rPr>
              <a:t>Local outputs today: editable PPTX, rendered PDF, slide previews, speaker-note evidence map, and review receipt.</a:t>
            </a:r>
          </a:p>
        </p:txBody>
      </p:sp>
    </p:spTree>
    <p:extLst>
      <p:ext uri="{BB962C8B-B14F-4D97-AF65-F5344CB8AC3E}">
        <p14:creationId xmlns:p14="http://schemas.microsoft.com/office/powerpoint/2010/main" val="1624098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2026-10-12T23:15:14.9040000Z</dcterms:created>
  <dcterms:modified xsi:type="dcterms:W3CDTF">2026-10-12T23:15:14.9040000Z</dcterms:modified>
</coreProperties>
</file>