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dddc63da8d4ff7" /><Relationship Type="http://schemas.openxmlformats.org/officeDocument/2006/relationships/extended-properties" Target="/docProps/app.xml" Id="Ra987d43eec284fff" /><Relationship Type="http://schemas.openxmlformats.org/officeDocument/2006/relationships/officeDocument" Target="/ppt/presentation.xml" Id="R645f4792ae1f4c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cfbf60077b406b"/>
  </p:sldMasterIdLst>
  <p:notesMasterIdLst>
    <p:notesMasterId xmlns:r="http://schemas.openxmlformats.org/officeDocument/2006/relationships" r:id="Rf52ed202292a4e2e"/>
  </p:notesMasterIdLst>
  <p:sldIdLst>
    <p:sldId xmlns:r="http://schemas.openxmlformats.org/officeDocument/2006/relationships" id="256" r:id="R50c024cc55d442bb"/>
    <p:sldId xmlns:r="http://schemas.openxmlformats.org/officeDocument/2006/relationships" id="257" r:id="R6976f4dd50bf4944"/>
    <p:sldId xmlns:r="http://schemas.openxmlformats.org/officeDocument/2006/relationships" id="258" r:id="R7f2f5bf9c827473e"/>
    <p:sldId xmlns:r="http://schemas.openxmlformats.org/officeDocument/2006/relationships" id="259" r:id="R71135777c0484110"/>
    <p:sldId xmlns:r="http://schemas.openxmlformats.org/officeDocument/2006/relationships" id="260" r:id="Rf6ff2dd7803742cc"/>
    <p:sldId xmlns:r="http://schemas.openxmlformats.org/officeDocument/2006/relationships" id="261" r:id="R6bceb19bf2df4c9e"/>
    <p:sldId xmlns:r="http://schemas.openxmlformats.org/officeDocument/2006/relationships" id="262" r:id="R3b6c1a6022824b06"/>
    <p:sldId xmlns:r="http://schemas.openxmlformats.org/officeDocument/2006/relationships" id="263" r:id="R6f4564c9bb124f5e"/>
    <p:sldId xmlns:r="http://schemas.openxmlformats.org/officeDocument/2006/relationships" id="264" r:id="Rdc2d139c8df745f0"/>
    <p:sldId xmlns:r="http://schemas.openxmlformats.org/officeDocument/2006/relationships" id="265" r:id="R7835e54f811a4629"/>
    <p:sldId xmlns:r="http://schemas.openxmlformats.org/officeDocument/2006/relationships" id="266" r:id="R2cf10ae9c45c444a"/>
    <p:sldId xmlns:r="http://schemas.openxmlformats.org/officeDocument/2006/relationships" id="267" r:id="R4d765e9bdafa4397"/>
    <p:sldId xmlns:r="http://schemas.openxmlformats.org/officeDocument/2006/relationships" id="268" r:id="R9c9ea6d1dfc04b45"/>
    <p:sldId xmlns:r="http://schemas.openxmlformats.org/officeDocument/2006/relationships" id="269" r:id="R8dd649ad18cd44d0"/>
    <p:sldId xmlns:r="http://schemas.openxmlformats.org/officeDocument/2006/relationships" id="270" r:id="Rfde2a784133847d7"/>
    <p:sldId xmlns:r="http://schemas.openxmlformats.org/officeDocument/2006/relationships" id="271" r:id="R634812af8bbc4e64"/>
  </p:sldIdLst>
  <p:sldSz cx="9144000" cy="5143500"/>
  <p:notesSz cx="6858000" cy="9144000"/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bf749cf35e4e25" /><Relationship Type="http://schemas.openxmlformats.org/officeDocument/2006/relationships/slideMaster" Target="/ppt/slideMasters/slideMaster1.xml" Id="Rd7cfbf60077b406b" /><Relationship Type="http://schemas.openxmlformats.org/officeDocument/2006/relationships/notesMaster" Target="/ppt/notesMasters/notesMaster1.xml" Id="Rf52ed202292a4e2e" /><Relationship Type="http://schemas.openxmlformats.org/officeDocument/2006/relationships/presProps" Target="/ppt/presProps.xml" Id="R3b622a93cbc048a5" /><Relationship Type="http://schemas.openxmlformats.org/officeDocument/2006/relationships/viewProps" Target="/ppt/viewProps.xml" Id="R69d869e3285145f4" /><Relationship Type="http://schemas.openxmlformats.org/officeDocument/2006/relationships/tableStyles" Target="/ppt/tableStyles.xml" Id="R1b39efc3b40142c9" /><Relationship Type="http://schemas.openxmlformats.org/officeDocument/2006/relationships/slide" Target="/ppt/slides/slide1.xml" Id="R50c024cc55d442bb" /><Relationship Type="http://schemas.openxmlformats.org/officeDocument/2006/relationships/slide" Target="/ppt/slides/slide2.xml" Id="R6976f4dd50bf4944" /><Relationship Type="http://schemas.openxmlformats.org/officeDocument/2006/relationships/slide" Target="/ppt/slides/slide3.xml" Id="R7f2f5bf9c827473e" /><Relationship Type="http://schemas.openxmlformats.org/officeDocument/2006/relationships/slide" Target="/ppt/slides/slide4.xml" Id="R71135777c0484110" /><Relationship Type="http://schemas.openxmlformats.org/officeDocument/2006/relationships/slide" Target="/ppt/slides/slide5.xml" Id="Rf6ff2dd7803742cc" /><Relationship Type="http://schemas.openxmlformats.org/officeDocument/2006/relationships/slide" Target="/ppt/slides/slide6.xml" Id="R6bceb19bf2df4c9e" /><Relationship Type="http://schemas.openxmlformats.org/officeDocument/2006/relationships/slide" Target="/ppt/slides/slide7.xml" Id="R3b6c1a6022824b06" /><Relationship Type="http://schemas.openxmlformats.org/officeDocument/2006/relationships/slide" Target="/ppt/slides/slide8.xml" Id="R6f4564c9bb124f5e" /><Relationship Type="http://schemas.openxmlformats.org/officeDocument/2006/relationships/slide" Target="/ppt/slides/slide9.xml" Id="Rdc2d139c8df745f0" /><Relationship Type="http://schemas.openxmlformats.org/officeDocument/2006/relationships/slide" Target="/ppt/slides/slide10.xml" Id="R7835e54f811a4629" /><Relationship Type="http://schemas.openxmlformats.org/officeDocument/2006/relationships/slide" Target="/ppt/slides/slide11.xml" Id="R2cf10ae9c45c444a" /><Relationship Type="http://schemas.openxmlformats.org/officeDocument/2006/relationships/slide" Target="/ppt/slides/slide12.xml" Id="R4d765e9bdafa4397" /><Relationship Type="http://schemas.openxmlformats.org/officeDocument/2006/relationships/slide" Target="/ppt/slides/slide13.xml" Id="R9c9ea6d1dfc04b45" /><Relationship Type="http://schemas.openxmlformats.org/officeDocument/2006/relationships/slide" Target="/ppt/slides/slide14.xml" Id="R8dd649ad18cd44d0" /><Relationship Type="http://schemas.openxmlformats.org/officeDocument/2006/relationships/slide" Target="/ppt/slides/slide15.xml" Id="Rfde2a784133847d7" /><Relationship Type="http://schemas.openxmlformats.org/officeDocument/2006/relationships/slide" Target="/ppt/slides/slide16.xml" Id="R634812af8bbc4e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cc8df0ed974a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c24a00f5af4c57" /><Relationship Type="http://schemas.openxmlformats.org/officeDocument/2006/relationships/notesMaster" Target="/ppt/notesMasters/notesMaster1.xml" Id="R8f1f8f83b6394c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314382d2dd4b29" /><Relationship Type="http://schemas.openxmlformats.org/officeDocument/2006/relationships/notesMaster" Target="/ppt/notesMasters/notesMaster1.xml" Id="R767f7770df2245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efcdd1257374075" /><Relationship Type="http://schemas.openxmlformats.org/officeDocument/2006/relationships/notesMaster" Target="/ppt/notesMasters/notesMaster1.xml" Id="Rd0aef99744b5440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12ffb3187f4c59" /><Relationship Type="http://schemas.openxmlformats.org/officeDocument/2006/relationships/notesMaster" Target="/ppt/notesMasters/notesMaster1.xml" Id="Reeb0b324424544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9808066d3e472c" /><Relationship Type="http://schemas.openxmlformats.org/officeDocument/2006/relationships/notesMaster" Target="/ppt/notesMasters/notesMaster1.xml" Id="R9cc5487d641d423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34ef4c5030a40f4" /><Relationship Type="http://schemas.openxmlformats.org/officeDocument/2006/relationships/notesMaster" Target="/ppt/notesMasters/notesMaster1.xml" Id="R30a622b8559f418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0334cd3ff794419" /><Relationship Type="http://schemas.openxmlformats.org/officeDocument/2006/relationships/notesMaster" Target="/ppt/notesMasters/notesMaster1.xml" Id="Rd1fae9eec489494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4152a990a4c4dcf" /><Relationship Type="http://schemas.openxmlformats.org/officeDocument/2006/relationships/notesMaster" Target="/ppt/notesMasters/notesMaster1.xml" Id="R7c29abe2432245d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e0e3eaaa8e04b15" /><Relationship Type="http://schemas.openxmlformats.org/officeDocument/2006/relationships/notesMaster" Target="/ppt/notesMasters/notesMaster1.xml" Id="Rb6f74b294b52426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0b1fc1f9bc0427a" /><Relationship Type="http://schemas.openxmlformats.org/officeDocument/2006/relationships/notesMaster" Target="/ppt/notesMasters/notesMaster1.xml" Id="Ra8a4d6b71b794e2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8f9d0a9d02e460d" /><Relationship Type="http://schemas.openxmlformats.org/officeDocument/2006/relationships/notesMaster" Target="/ppt/notesMasters/notesMaster1.xml" Id="Rc906c1cf4ce84b4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71913e26080467b" /><Relationship Type="http://schemas.openxmlformats.org/officeDocument/2006/relationships/notesMaster" Target="/ppt/notesMasters/notesMaster1.xml" Id="R61779d5e1a934b8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e08506101f04171" /><Relationship Type="http://schemas.openxmlformats.org/officeDocument/2006/relationships/notesMaster" Target="/ppt/notesMasters/notesMaster1.xml" Id="R57e9e41debbe4f1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a80bb21b7b84fbb" /><Relationship Type="http://schemas.openxmlformats.org/officeDocument/2006/relationships/notesMaster" Target="/ppt/notesMasters/notesMaster1.xml" Id="Ra98c918d76a349e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e18a5d862714d8d" /><Relationship Type="http://schemas.openxmlformats.org/officeDocument/2006/relationships/notesMaster" Target="/ppt/notesMasters/notesMaster1.xml" Id="R87a97c70fa3b4c1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db0e3210a5343a7" /><Relationship Type="http://schemas.openxmlformats.org/officeDocument/2006/relationships/notesMaster" Target="/ppt/notesMasters/notesMaster1.xml" Id="R51db79b562404d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Draft for Future of Work &amp; Enterprise Productivity. Source template: https://docs.google.com/presentation/d/13rg7vW43mEH6DkpuusAE6fdoEylSFz8waNpE4RLzoUg/edit (download 2026-10-16, SHA256 fac56448966ecac0bea3975b7c9c61bf578679ccf4bd252a5f281ed4db90ce77). Local implementation evidence: docs/local-acceptance.md; production/test commit 7b731d6942e113e671d5ce0110d694deea19193e; acceptance docs da69bbfa6fef32abb01d789efde21eed4f550782. See docs/architecture.md, docs/readiness-costs.md, docs/gcp-deployment.md, docs/competition/template-checklist.md. Slide 1. No cloud/provider/publication/submission acceptance implied. Slide 11 image: accepted Task20 browser-fix.png, synthetic local data; source tree continuity documented in Task20 acceptance receipt.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Draft for Future of Work &amp; Enterprise Productivity. Source template: https://docs.google.com/presentation/d/13rg7vW43mEH6DkpuusAE6fdoEylSFz8waNpE4RLzoUg/edit (download 2026-10-16, SHA256 fac56448966ecac0bea3975b7c9c61bf578679ccf4bd252a5f281ed4db90ce77). Local implementation evidence: docs/local-acceptance.md; production/test commit 7b731d6942e113e671d5ce0110d694deea19193e; acceptance docs da69bbfa6fef32abb01d789efde21eed4f550782. See docs/architecture.md, docs/readiness-costs.md, docs/gcp-deployment.md, docs/competition/template-checklist.md. Slide 2. No cloud/provider/publication/submission acceptance implied. Slide 11 image: accepted Task20 browser-fix.png, synthetic local data; source tree continuity documented in Task20 acceptance receipt.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Draft for Future of Work &amp; Enterprise Productivity. Source template: https://docs.google.com/presentation/d/13rg7vW43mEH6DkpuusAE6fdoEylSFz8waNpE4RLzoUg/edit (download 2026-10-16, SHA256 fac56448966ecac0bea3975b7c9c61bf578679ccf4bd252a5f281ed4db90ce77). Local implementation evidence: docs/local-acceptance.md; production/test commit 7b731d6942e113e671d5ce0110d694deea19193e; acceptance docs da69bbfa6fef32abb01d789efde21eed4f550782. See docs/architecture.md, docs/readiness-costs.md, docs/gcp-deployment.md, docs/competition/template-checklist.md. Slide 3. No cloud/provider/publication/submission acceptance implied. Slide 11 image: accepted Task20 browser-fix.png, synthetic local data; source tree continuity documented in Task20 acceptance receipt.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Draft for Future of Work &amp; Enterprise Productivity. Source template: https://docs.google.com/presentation/d/13rg7vW43mEH6DkpuusAE6fdoEylSFz8waNpE4RLzoUg/edit (download 2026-10-16, SHA256 fac56448966ecac0bea3975b7c9c61bf578679ccf4bd252a5f281ed4db90ce77). Local implementation evidence: docs/local-acceptance.md; production/test commit 7b731d6942e113e671d5ce0110d694deea19193e; acceptance docs da69bbfa6fef32abb01d789efde21eed4f550782. See docs/architecture.md, docs/readiness-costs.md, docs/gcp-deployment.md, docs/competition/template-checklist.md. Slide 4. No cloud/provider/publication/submission acceptance implied. Slide 11 image: accepted Task20 browser-fix.png, synthetic local data; source tree continuity documented in Task20 acceptance receipt.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Draft for Future of Work &amp; Enterprise Productivity. Source template: https://docs.google.com/presentation/d/13rg7vW43mEH6DkpuusAE6fdoEylSFz8waNpE4RLzoUg/edit (download 2026-10-16, SHA256 fac56448966ecac0bea3975b7c9c61bf578679ccf4bd252a5f281ed4db90ce77). Local implementation evidence: docs/local-acceptance.md; production/test commit 7b731d6942e113e671d5ce0110d694deea19193e; acceptance docs da69bbfa6fef32abb01d789efde21eed4f550782. See docs/architecture.md, docs/readiness-costs.md, docs/gcp-deployment.md, docs/competition/template-checklist.md. Slide 5. No cloud/provider/publication/submission acceptance implied. Slide 11 image: accepted Task20 browser-fix.png, synthetic local data; source tree continuity documented in Task20 acceptance receipt.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Draft for Future of Work &amp; Enterprise Productivity. Source template: https://docs.google.com/presentation/d/13rg7vW43mEH6DkpuusAE6fdoEylSFz8waNpE4RLzoUg/edit (download 2026-10-16, SHA256 fac56448966ecac0bea3975b7c9c61bf578679ccf4bd252a5f281ed4db90ce77). Local implementation evidence: docs/local-acceptance.md; production/test commit 7b731d6942e113e671d5ce0110d694deea19193e; acceptance docs da69bbfa6fef32abb01d789efde21eed4f550782. See docs/architecture.md, docs/readiness-costs.md, docs/gcp-deployment.md, docs/competition/template-checklist.md. Slide 6. No cloud/provider/publication/submission acceptance implied. Slide 11 image: accepted Task20 browser-fix.png, synthetic local data; source tree continuity documented in Task20 acceptance receipt.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Draft for Future of Work &amp; Enterprise Productivity. Source template: https://docs.google.com/presentation/d/13rg7vW43mEH6DkpuusAE6fdoEylSFz8waNpE4RLzoUg/edit (download 2026-10-16, SHA256 fac56448966ecac0bea3975b7c9c61bf578679ccf4bd252a5f281ed4db90ce77). Local implementation evidence: docs/local-acceptance.md; production/test commit 7b731d6942e113e671d5ce0110d694deea19193e; acceptance docs da69bbfa6fef32abb01d789efde21eed4f550782. See docs/architecture.md, docs/readiness-costs.md, docs/gcp-deployment.md, docs/competition/template-checklist.md. Slide 7. No cloud/provider/publication/submission acceptance implied. Slide 11 image: accepted Task20 browser-fix.png, synthetic local data; source tree continuity documented in Task20 acceptance receipt.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Draft for Future of Work &amp; Enterprise Productivity. Source template: https://docs.google.com/presentation/d/13rg7vW43mEH6DkpuusAE6fdoEylSFz8waNpE4RLzoUg/edit (download 2026-10-16, SHA256 fac56448966ecac0bea3975b7c9c61bf578679ccf4bd252a5f281ed4db90ce77). Local implementation evidence: docs/local-acceptance.md; production/test commit 7b731d6942e113e671d5ce0110d694deea19193e; acceptance docs da69bbfa6fef32abb01d789efde21eed4f550782. See docs/architecture.md, docs/readiness-costs.md, docs/gcp-deployment.md, docs/competition/template-checklist.md. Slide 8. No cloud/provider/publication/submission acceptance implied. Slide 11 image: accepted Task20 browser-fix.png, synthetic local data; source tree continuity documented in Task20 acceptance receipt.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Draft for Future of Work &amp; Enterprise Productivity. Source template: https://docs.google.com/presentation/d/13rg7vW43mEH6DkpuusAE6fdoEylSFz8waNpE4RLzoUg/edit (download 2026-10-16, SHA256 fac56448966ecac0bea3975b7c9c61bf578679ccf4bd252a5f281ed4db90ce77). Local implementation evidence: docs/local-acceptance.md; production/test commit 7b731d6942e113e671d5ce0110d694deea19193e; acceptance docs da69bbfa6fef32abb01d789efde21eed4f550782. See docs/architecture.md, docs/readiness-costs.md, docs/gcp-deployment.md, docs/competition/template-checklist.md. Slide 9. No cloud/provider/publication/submission acceptance implied. Slide 11 image: accepted Task20 browser-fix.png, synthetic local data; source tree continuity documented in Task20 acceptance receipt.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Draft for Future of Work &amp; Enterprise Productivity. Source template: https://docs.google.com/presentation/d/13rg7vW43mEH6DkpuusAE6fdoEylSFz8waNpE4RLzoUg/edit (download 2026-10-16, SHA256 fac56448966ecac0bea3975b7c9c61bf578679ccf4bd252a5f281ed4db90ce77). Local implementation evidence: docs/local-acceptance.md; production/test commit 7b731d6942e113e671d5ce0110d694deea19193e; acceptance docs da69bbfa6fef32abb01d789efde21eed4f550782. See docs/architecture.md, docs/readiness-costs.md, docs/gcp-deployment.md, docs/competition/template-checklist.md. Slide 10. No cloud/provider/publication/submission acceptance implied. Slide 11 image: accepted Task20 browser-fix.png, synthetic local data; source tree continuity documented in Task20 acceptance receipt.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Draft for Future of Work &amp; Enterprise Productivity. Source template: https://docs.google.com/presentation/d/13rg7vW43mEH6DkpuusAE6fdoEylSFz8waNpE4RLzoUg/edit (download 2026-10-16, SHA256 fac56448966ecac0bea3975b7c9c61bf578679ccf4bd252a5f281ed4db90ce77). Local implementation evidence: docs/local-acceptance.md; production/test commit 7b731d6942e113e671d5ce0110d694deea19193e; acceptance docs da69bbfa6fef32abb01d789efde21eed4f550782. See docs/architecture.md, docs/readiness-costs.md, docs/gcp-deployment.md, docs/competition/template-checklist.md. Slide 11. No cloud/provider/publication/submission acceptance implied. Slide 11 image: accepted Task20 browser-fix.png, synthetic local data; source tree continuity documented in Task20 acceptance receipt.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Draft for Future of Work &amp; Enterprise Productivity. Source template: https://docs.google.com/presentation/d/13rg7vW43mEH6DkpuusAE6fdoEylSFz8waNpE4RLzoUg/edit (download 2026-10-16, SHA256 fac56448966ecac0bea3975b7c9c61bf578679ccf4bd252a5f281ed4db90ce77). Local implementation evidence: docs/local-acceptance.md; production/test commit 7b731d6942e113e671d5ce0110d694deea19193e; acceptance docs da69bbfa6fef32abb01d789efde21eed4f550782. See docs/architecture.md, docs/readiness-costs.md, docs/gcp-deployment.md, docs/competition/template-checklist.md. Slide 12. No cloud/provider/publication/submission acceptance implied. Slide 11 image: accepted Task20 browser-fix.png, synthetic local data; source tree continuity documented in Task20 acceptance receipt.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Draft for Future of Work &amp; Enterprise Productivity. Source template: https://docs.google.com/presentation/d/13rg7vW43mEH6DkpuusAE6fdoEylSFz8waNpE4RLzoUg/edit (download 2026-10-16, SHA256 fac56448966ecac0bea3975b7c9c61bf578679ccf4bd252a5f281ed4db90ce77). Local implementation evidence: docs/local-acceptance.md; production/test commit 7b731d6942e113e671d5ce0110d694deea19193e; acceptance docs da69bbfa6fef32abb01d789efde21eed4f550782. See docs/architecture.md, docs/readiness-costs.md, docs/gcp-deployment.md, docs/competition/template-checklist.md. Slide 13. No cloud/provider/publication/submission acceptance implied. Slide 11 image: accepted Task20 browser-fix.png, synthetic local data; source tree continuity documented in Task20 acceptance receipt.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Draft for Future of Work &amp; Enterprise Productivity. Source template: https://docs.google.com/presentation/d/13rg7vW43mEH6DkpuusAE6fdoEylSFz8waNpE4RLzoUg/edit (download 2026-10-16, SHA256 fac56448966ecac0bea3975b7c9c61bf578679ccf4bd252a5f281ed4db90ce77). Local implementation evidence: docs/local-acceptance.md; production/test commit 7b731d6942e113e671d5ce0110d694deea19193e; acceptance docs da69bbfa6fef32abb01d789efde21eed4f550782. See docs/architecture.md, docs/readiness-costs.md, docs/gcp-deployment.md, docs/competition/template-checklist.md. Slide 14. No cloud/provider/publication/submission acceptance implied. Slide 11 image: accepted Task20 browser-fix.png, synthetic local data; source tree continuity documented in Task20 acceptance receipt.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Draft for Future of Work &amp; Enterprise Productivity. Source template: https://docs.google.com/presentation/d/13rg7vW43mEH6DkpuusAE6fdoEylSFz8waNpE4RLzoUg/edit (download 2026-10-16, SHA256 fac56448966ecac0bea3975b7c9c61bf578679ccf4bd252a5f281ed4db90ce77). Local implementation evidence: docs/local-acceptance.md; production/test commit 7b731d6942e113e671d5ce0110d694deea19193e; acceptance docs da69bbfa6fef32abb01d789efde21eed4f550782. See docs/architecture.md, docs/readiness-costs.md, docs/gcp-deployment.md, docs/competition/template-checklist.md. Slide 15. No cloud/provider/publication/submission acceptance implied. Slide 11 image: accepted Task20 browser-fix.png, synthetic local data; source tree continuity documented in Task20 acceptance receipt.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Draft for Future of Work &amp; Enterprise Productivity. Source template: https://docs.google.com/presentation/d/13rg7vW43mEH6DkpuusAE6fdoEylSFz8waNpE4RLzoUg/edit (download 2026-10-16, SHA256 fac56448966ecac0bea3975b7c9c61bf578679ccf4bd252a5f281ed4db90ce77). Local implementation evidence: docs/local-acceptance.md; production/test commit 7b731d6942e113e671d5ce0110d694deea19193e; acceptance docs da69bbfa6fef32abb01d789efde21eed4f550782. See docs/architecture.md, docs/readiness-costs.md, docs/gcp-deployment.md, docs/competition/template-checklist.md. Slide 16. No cloud/provider/publication/submission acceptance implied. Slide 11 image: accepted Task20 browser-fix.png, synthetic local data; source tree continuity documented in Task20 acceptance receipt.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8d7139f273483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12e8b824244c0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58b7f55a0c468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8cfe8b6d4748d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5ffd71259f48f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35b0fcdf3e424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27a17662214a7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4ff8b06d6543d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e85ee964b746c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ca05312f6f460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7d6a0fe52b4643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6FD3B220-B99E-4922-9A0E-E8C63424156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0C0438A3-515D-495A-9117-AE5E92C746A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69E0E9F7-0DE6-485B-96D2-3FAA8FAA6C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3C00A38E-FF0A-442E-B80C-A4F5DC7C5A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0204D211-A386-4DDE-982E-37BB0EBE81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6488D527-9204-4A82-B4D5-0AD6D23C06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97254A12-1CA5-497F-B17C-18694DC343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46D23277-2309-4030-B874-53506A22FE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CC7AC0EA-2B58-4A5A-8CC0-364E232F09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FC43251B-060F-4505-8613-C8C7634A14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8900749B-E921-42B1-A9AE-5494E18F9B2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4" name="Google Shape;24;p5">
            <a:extLst xmlns:a="http://schemas.openxmlformats.org/drawingml/2006/main">
              <a:ext uri="{FF2B5EF4-FFF2-40B4-BE49-F238E27FC236}">
                <a16:creationId xmlns:a16="http://schemas.microsoft.com/office/drawing/2014/main" id="{BD54FDA6-228F-439A-BEC7-7A9FC051AA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6">
            <a:extLst xmlns:a="http://schemas.openxmlformats.org/drawingml/2006/main">
              <a:ext uri="{FF2B5EF4-FFF2-40B4-BE49-F238E27FC236}">
                <a16:creationId xmlns:a16="http://schemas.microsoft.com/office/drawing/2014/main" id="{05BE2713-9D5B-486C-BD00-F8BE1A9C13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6">
            <a:extLst xmlns:a="http://schemas.openxmlformats.org/drawingml/2006/main">
              <a:ext uri="{FF2B5EF4-FFF2-40B4-BE49-F238E27FC236}">
                <a16:creationId xmlns:a16="http://schemas.microsoft.com/office/drawing/2014/main" id="{91B71670-87EA-4383-95BD-136687625FE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7">
            <a:extLst xmlns:a="http://schemas.openxmlformats.org/drawingml/2006/main">
              <a:ext uri="{FF2B5EF4-FFF2-40B4-BE49-F238E27FC236}">
                <a16:creationId xmlns:a16="http://schemas.microsoft.com/office/drawing/2014/main" id="{A98B78EE-18DC-4C29-9EFA-9A8A3AE513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0" name="Google Shape;30;p7">
            <a:extLst xmlns:a="http://schemas.openxmlformats.org/drawingml/2006/main">
              <a:ext uri="{FF2B5EF4-FFF2-40B4-BE49-F238E27FC236}">
                <a16:creationId xmlns:a16="http://schemas.microsoft.com/office/drawing/2014/main" id="{62DA4DE4-99AF-4191-862D-B7C1C03CD7C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1" name="Google Shape;31;p7">
            <a:extLst xmlns:a="http://schemas.openxmlformats.org/drawingml/2006/main">
              <a:ext uri="{FF2B5EF4-FFF2-40B4-BE49-F238E27FC236}">
                <a16:creationId xmlns:a16="http://schemas.microsoft.com/office/drawing/2014/main" id="{7665D5C8-CA93-4A59-8545-65DC4A8C65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8">
            <a:extLst xmlns:a="http://schemas.openxmlformats.org/drawingml/2006/main">
              <a:ext uri="{FF2B5EF4-FFF2-40B4-BE49-F238E27FC236}">
                <a16:creationId xmlns:a16="http://schemas.microsoft.com/office/drawing/2014/main" id="{ACCC8ABE-C5C5-40BF-AF2D-349EB25973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4" name="Google Shape;34;p8">
            <a:extLst xmlns:a="http://schemas.openxmlformats.org/drawingml/2006/main">
              <a:ext uri="{FF2B5EF4-FFF2-40B4-BE49-F238E27FC236}">
                <a16:creationId xmlns:a16="http://schemas.microsoft.com/office/drawing/2014/main" id="{EBD98F0A-FEE2-45D1-8F9E-E050174CDB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9">
            <a:extLst xmlns:a="http://schemas.openxmlformats.org/drawingml/2006/main">
              <a:ext uri="{FF2B5EF4-FFF2-40B4-BE49-F238E27FC236}">
                <a16:creationId xmlns:a16="http://schemas.microsoft.com/office/drawing/2014/main" id="{27B6E857-9614-41D2-80B5-3B7CC67C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E98B3D01-5729-4653-B177-14CB63F315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3500350D-F057-42B4-8C42-42AC64C6598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86FA5AA7-F9AF-4868-A61D-4AD7FCA385F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B699B4AF-1BAD-4CDF-BC93-C8994096A3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0">
            <a:extLst xmlns:a="http://schemas.openxmlformats.org/drawingml/2006/main">
              <a:ext uri="{FF2B5EF4-FFF2-40B4-BE49-F238E27FC236}">
                <a16:creationId xmlns:a16="http://schemas.microsoft.com/office/drawing/2014/main" id="{E97EB37F-6ADF-42E6-88B2-2F772068E8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/>
        </p:txBody>
      </p:sp>
      <p:sp>
        <p:nvSpPr>
          <p:cNvPr id="43" name="Google Shape;43;p10">
            <a:extLst xmlns:a="http://schemas.openxmlformats.org/drawingml/2006/main">
              <a:ext uri="{FF2B5EF4-FFF2-40B4-BE49-F238E27FC236}">
                <a16:creationId xmlns:a16="http://schemas.microsoft.com/office/drawing/2014/main" id="{5001FBEF-A21C-4C64-8A67-E8BE10D06D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89D07B1E-E007-4CBF-85F1-BAAEEB86770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11">
            <a:extLst xmlns:a="http://schemas.openxmlformats.org/drawingml/2006/main">
              <a:ext uri="{FF2B5EF4-FFF2-40B4-BE49-F238E27FC236}">
                <a16:creationId xmlns:a16="http://schemas.microsoft.com/office/drawing/2014/main" id="{DC0B89BA-35F1-4E32-A84A-C091FC1026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7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F2BE5118-C063-48CD-9F9C-0C625B549E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2">
            <a:extLst xmlns:a="http://schemas.openxmlformats.org/drawingml/2006/main">
              <a:ext uri="{FF2B5EF4-FFF2-40B4-BE49-F238E27FC236}">
                <a16:creationId xmlns:a16="http://schemas.microsoft.com/office/drawing/2014/main" id="{95018A9B-54A9-4E7E-9429-91BFBCA0FBF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682d1ae432481a" /><Relationship Type="http://schemas.openxmlformats.org/officeDocument/2006/relationships/slideLayout" Target="/ppt/slideLayouts/slideLayout1.xml" Id="R2ec5cc67a5014fd7" /><Relationship Type="http://schemas.openxmlformats.org/officeDocument/2006/relationships/slideLayout" Target="/ppt/slideLayouts/slideLayout2.xml" Id="R48bdad77ff8e4f61" /><Relationship Type="http://schemas.openxmlformats.org/officeDocument/2006/relationships/slideLayout" Target="/ppt/slideLayouts/slideLayout3.xml" Id="R488879194b93411e" /><Relationship Type="http://schemas.openxmlformats.org/officeDocument/2006/relationships/slideLayout" Target="/ppt/slideLayouts/slideLayout4.xml" Id="Rc13614afc2eb4c08" /><Relationship Type="http://schemas.openxmlformats.org/officeDocument/2006/relationships/slideLayout" Target="/ppt/slideLayouts/slideLayout5.xml" Id="R34c938cece9444c0" /><Relationship Type="http://schemas.openxmlformats.org/officeDocument/2006/relationships/slideLayout" Target="/ppt/slideLayouts/slideLayout6.xml" Id="Rae0a6420d8c84153" /><Relationship Type="http://schemas.openxmlformats.org/officeDocument/2006/relationships/slideLayout" Target="/ppt/slideLayouts/slideLayout7.xml" Id="R95d8d0e9b5b9419b" /><Relationship Type="http://schemas.openxmlformats.org/officeDocument/2006/relationships/slideLayout" Target="/ppt/slideLayouts/slideLayout8.xml" Id="Rba5d4d08ac694481" /><Relationship Type="http://schemas.openxmlformats.org/officeDocument/2006/relationships/slideLayout" Target="/ppt/slideLayouts/slideLayout9.xml" Id="Rfc233b7820584ce3" /><Relationship Type="http://schemas.openxmlformats.org/officeDocument/2006/relationships/slideLayout" Target="/ppt/slideLayouts/slideLayout10.xml" Id="Rfdb4c8adac1d4de1" /><Relationship Type="http://schemas.openxmlformats.org/officeDocument/2006/relationships/slideLayout" Target="/ppt/slideLayouts/slideLayout11.xml" Id="R01dd721f6e03435b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79323B16-0C7A-4608-85F7-A6D57147B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E44F2FF2-96A3-4E78-AF8A-2A38BFF820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FCB49C55-D802-4F64-B906-48C787E303F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c5cc67a5014fd7"/>
    <p:sldLayoutId xmlns:r="http://schemas.openxmlformats.org/officeDocument/2006/relationships" id="2147483650" r:id="R48bdad77ff8e4f61"/>
    <p:sldLayoutId xmlns:r="http://schemas.openxmlformats.org/officeDocument/2006/relationships" id="2147483651" r:id="R488879194b93411e"/>
    <p:sldLayoutId xmlns:r="http://schemas.openxmlformats.org/officeDocument/2006/relationships" id="2147483652" r:id="Rc13614afc2eb4c08"/>
    <p:sldLayoutId xmlns:r="http://schemas.openxmlformats.org/officeDocument/2006/relationships" id="2147483653" r:id="R34c938cece9444c0"/>
    <p:sldLayoutId xmlns:r="http://schemas.openxmlformats.org/officeDocument/2006/relationships" id="2147483654" r:id="Rae0a6420d8c84153"/>
    <p:sldLayoutId xmlns:r="http://schemas.openxmlformats.org/officeDocument/2006/relationships" id="2147483655" r:id="R95d8d0e9b5b9419b"/>
    <p:sldLayoutId xmlns:r="http://schemas.openxmlformats.org/officeDocument/2006/relationships" id="2147483656" r:id="Rba5d4d08ac694481"/>
    <p:sldLayoutId xmlns:r="http://schemas.openxmlformats.org/officeDocument/2006/relationships" id="2147483657" r:id="Rfc233b7820584ce3"/>
    <p:sldLayoutId xmlns:r="http://schemas.openxmlformats.org/officeDocument/2006/relationships" id="2147483658" r:id="Rfdb4c8adac1d4de1"/>
    <p:sldLayoutId xmlns:r="http://schemas.openxmlformats.org/officeDocument/2006/relationships" id="2147483659" r:id="R01dd721f6e03435b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454bf5280f4ef6" /><Relationship Type="http://schemas.openxmlformats.org/officeDocument/2006/relationships/image" Target="/ppt/media/image.png" Id="Rd9ef638a18e04bf2" /><Relationship Type="http://schemas.openxmlformats.org/officeDocument/2006/relationships/image" Target="/ppt/media/image2.png" Id="Reda9e772ca6640ed" /><Relationship Type="http://schemas.openxmlformats.org/officeDocument/2006/relationships/notesSlide" Target="/ppt/notesSlides/notesSlide1.xml" Id="Ra85d62c87a8944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3bebab62324896" /><Relationship Type="http://schemas.openxmlformats.org/officeDocument/2006/relationships/image" Target="/ppt/media/image2.png" Id="R087c598f3ba8474d" /><Relationship Type="http://schemas.openxmlformats.org/officeDocument/2006/relationships/image" Target="/ppt/media/image3.png" Id="R1a02238c1ab8468f" /><Relationship Type="http://schemas.openxmlformats.org/officeDocument/2006/relationships/notesSlide" Target="/ppt/notesSlides/notesSlide2.xml" Id="R561bed700d06454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1d57807a4d482c" /><Relationship Type="http://schemas.openxmlformats.org/officeDocument/2006/relationships/image" Target="/ppt/media/image4.png" Id="R92ae134ca8cf4134" /><Relationship Type="http://schemas.openxmlformats.org/officeDocument/2006/relationships/notesSlide" Target="/ppt/notesSlides/notesSlide3.xml" Id="R7f9606d5d93041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0a2c164ca04fb5" /><Relationship Type="http://schemas.openxmlformats.org/officeDocument/2006/relationships/image" Target="/ppt/media/image2.png" Id="Rd346c6e11cbf4404" /><Relationship Type="http://schemas.openxmlformats.org/officeDocument/2006/relationships/image" Target="/ppt/media/image4.png" Id="R5ee670d3a500424d" /><Relationship Type="http://schemas.openxmlformats.org/officeDocument/2006/relationships/notesSlide" Target="/ppt/notesSlides/notesSlide4.xml" Id="R4f54c7e18a08408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83972b98ce4a87" /><Relationship Type="http://schemas.openxmlformats.org/officeDocument/2006/relationships/image" Target="/ppt/media/image2.png" Id="R0edddb7a90a64d48" /><Relationship Type="http://schemas.openxmlformats.org/officeDocument/2006/relationships/image" Target="/ppt/media/image4.png" Id="Rd74c2ff852154440" /><Relationship Type="http://schemas.openxmlformats.org/officeDocument/2006/relationships/notesSlide" Target="/ppt/notesSlides/notesSlide5.xml" Id="Ra630edb305dc4c4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1060ebcfaa4fe7" /><Relationship Type="http://schemas.openxmlformats.org/officeDocument/2006/relationships/image" Target="/ppt/media/image2.png" Id="R2de4dd8002f34fbe" /><Relationship Type="http://schemas.openxmlformats.org/officeDocument/2006/relationships/image" Target="/ppt/media/image4.png" Id="Re96769e51b594b19" /><Relationship Type="http://schemas.openxmlformats.org/officeDocument/2006/relationships/notesSlide" Target="/ppt/notesSlides/notesSlide6.xml" Id="R8ddd53813a584c4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c05b48f9574cd1" /><Relationship Type="http://schemas.openxmlformats.org/officeDocument/2006/relationships/image" Target="/ppt/media/image2.png" Id="R65e6e815deb0453e" /><Relationship Type="http://schemas.openxmlformats.org/officeDocument/2006/relationships/image" Target="/ppt/media/image4.png" Id="R9a419a5208f7453d" /><Relationship Type="http://schemas.openxmlformats.org/officeDocument/2006/relationships/notesSlide" Target="/ppt/notesSlides/notesSlide7.xml" Id="R22959e45fe1f4fb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224fee0c434e39" /><Relationship Type="http://schemas.openxmlformats.org/officeDocument/2006/relationships/image" Target="/ppt/media/image2.png" Id="R0c1e2f6ac78e40c4" /><Relationship Type="http://schemas.openxmlformats.org/officeDocument/2006/relationships/image" Target="/ppt/media/image4.png" Id="R041bc710e2b84813" /><Relationship Type="http://schemas.openxmlformats.org/officeDocument/2006/relationships/notesSlide" Target="/ppt/notesSlides/notesSlide8.xml" Id="Rcb8708a1d6e64fb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9c44726c4c488a" /><Relationship Type="http://schemas.openxmlformats.org/officeDocument/2006/relationships/image" Target="/ppt/media/image2.png" Id="R0442533c16d94c61" /><Relationship Type="http://schemas.openxmlformats.org/officeDocument/2006/relationships/image" Target="/ppt/media/image4.png" Id="Rec288bac62034d1a" /><Relationship Type="http://schemas.openxmlformats.org/officeDocument/2006/relationships/notesSlide" Target="/ppt/notesSlides/notesSlide9.xml" Id="Rdbbf175964674bc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9110f8c2fa410d" /><Relationship Type="http://schemas.openxmlformats.org/officeDocument/2006/relationships/image" Target="/ppt/media/image2.png" Id="R4513fc1cf437473b" /><Relationship Type="http://schemas.openxmlformats.org/officeDocument/2006/relationships/image" Target="/ppt/media/image4.png" Id="R973b84c6a8d944cf" /><Relationship Type="http://schemas.openxmlformats.org/officeDocument/2006/relationships/notesSlide" Target="/ppt/notesSlides/notesSlide10.xml" Id="Rc667fdfe26fc433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7031b6700a4301" /><Relationship Type="http://schemas.openxmlformats.org/officeDocument/2006/relationships/image" Target="/ppt/media/image2.png" Id="R2fa54be6f2c3458d" /><Relationship Type="http://schemas.openxmlformats.org/officeDocument/2006/relationships/image" Target="/ppt/media/image4.png" Id="R853a755faebd4e9d" /><Relationship Type="http://schemas.openxmlformats.org/officeDocument/2006/relationships/image" Target="/ppt/media/image5.png" Id="Rda46d84a6f314da7" /><Relationship Type="http://schemas.openxmlformats.org/officeDocument/2006/relationships/notesSlide" Target="/ppt/notesSlides/notesSlide11.xml" Id="Rc568bc637bf9478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4df9ea58cd4ae7" /><Relationship Type="http://schemas.openxmlformats.org/officeDocument/2006/relationships/image" Target="/ppt/media/image2.png" Id="R4acfb68f9cd84ef0" /><Relationship Type="http://schemas.openxmlformats.org/officeDocument/2006/relationships/image" Target="/ppt/media/image4.png" Id="Rbdc2c34fa6a34c07" /><Relationship Type="http://schemas.openxmlformats.org/officeDocument/2006/relationships/notesSlide" Target="/ppt/notesSlides/notesSlide12.xml" Id="R7f4dc7a079f94b3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9540368a68435a" /><Relationship Type="http://schemas.openxmlformats.org/officeDocument/2006/relationships/image" Target="/ppt/media/image2.png" Id="R1b58b29434314cf2" /><Relationship Type="http://schemas.openxmlformats.org/officeDocument/2006/relationships/image" Target="/ppt/media/image4.png" Id="Rc967a7282d4f4e0e" /><Relationship Type="http://schemas.openxmlformats.org/officeDocument/2006/relationships/notesSlide" Target="/ppt/notesSlides/notesSlide13.xml" Id="R20a60b99a9ee466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b6511b0edd4fd5" /><Relationship Type="http://schemas.openxmlformats.org/officeDocument/2006/relationships/image" Target="/ppt/media/image2.png" Id="Rea624e93952446f7" /><Relationship Type="http://schemas.openxmlformats.org/officeDocument/2006/relationships/image" Target="/ppt/media/image4.png" Id="R7ca067c1ed744bcf" /><Relationship Type="http://schemas.openxmlformats.org/officeDocument/2006/relationships/notesSlide" Target="/ppt/notesSlides/notesSlide14.xml" Id="R7895a3ee4242466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c8369e48384339" /><Relationship Type="http://schemas.openxmlformats.org/officeDocument/2006/relationships/image" Target="/ppt/media/image2.png" Id="R771c6fbc5ab948d4" /><Relationship Type="http://schemas.openxmlformats.org/officeDocument/2006/relationships/image" Target="/ppt/media/image4.png" Id="R4b45238e9ae74ab6" /><Relationship Type="http://schemas.openxmlformats.org/officeDocument/2006/relationships/notesSlide" Target="/ppt/notesSlides/notesSlide15.xml" Id="R982d0a3e6319497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e43db8773a42bc" /><Relationship Type="http://schemas.openxmlformats.org/officeDocument/2006/relationships/image" Target="/ppt/media/image2.png" Id="R366407c648954905" /><Relationship Type="http://schemas.openxmlformats.org/officeDocument/2006/relationships/image" Target="/ppt/media/image6.png" Id="R78882110aaf1452d" /><Relationship Type="http://schemas.openxmlformats.org/officeDocument/2006/relationships/notesSlide" Target="/ppt/notesSlides/notesSlide16.xml" Id="Rc7a1b0374c27467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Google Shape;54;p13">
            <a:extLst xmlns:a="http://schemas.openxmlformats.org/drawingml/2006/main">
              <a:ext uri="{FF2B5EF4-FFF2-40B4-BE49-F238E27FC236}">
                <a16:creationId xmlns:a16="http://schemas.microsoft.com/office/drawing/2014/main" id="{42EE8F82-14F6-4771-8B7A-504A4C55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00" y="2902694"/>
            <a:ext cx="8760000" cy="200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100">
                <a:latin typeface="Google Sans Flex SemiBold"/>
                <a:ea typeface="Google Sans Flex SemiBold"/>
                <a:cs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</a:endParaRPr>
          </a:p>
          <a:p xmlns:a="http://schemas.openxmlformats.org/drawingml/2006/main">
            <a:pPr marL="914400" lvl="1" indent="-34290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sz="1800">
                <a:latin typeface="Google Sans Flex"/>
                <a:ea typeface="Google Sans Flex"/>
                <a:cs typeface="Google Sans Flex"/>
              </a:rPr>
              <a:t>Team name: Samurai</a:t>
            </a:r>
            <a:endParaRPr sz="1800">
              <a:latin typeface="Google Sans Flex"/>
              <a:ea typeface="Google Sans Flex"/>
              <a:cs typeface="Google Sans Flex"/>
            </a:endParaRPr>
          </a:p>
          <a:p xmlns:a="http://schemas.openxmlformats.org/drawingml/2006/main">
            <a:pPr marL="914400" lvl="1" indent="-34290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sz="1800">
                <a:latin typeface="Google Sans Flex"/>
                <a:ea typeface="Google Sans Flex"/>
                <a:cs typeface="Google Sans Flex"/>
              </a:rPr>
              <a:t>Team leader: pending portal confirmation</a:t>
            </a:r>
            <a:endParaRPr sz="1800">
              <a:latin typeface="Google Sans Flex"/>
              <a:ea typeface="Google Sans Flex"/>
              <a:cs typeface="Google Sans Flex"/>
            </a:endParaRPr>
          </a:p>
          <a:p xmlns:a="http://schemas.openxmlformats.org/drawingml/2006/main">
            <a:pPr marL="914400" lvl="1" indent="-34290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sz="1800">
                <a:latin typeface="Google Sans Flex"/>
                <a:ea typeface="Google Sans Flex"/>
                <a:cs typeface="Google Sans Flex"/>
              </a:rPr>
              <a:t>Problem: founder work loses context and evidence</a:t>
            </a:r>
            <a:endParaRPr sz="1800">
              <a:latin typeface="Google Sans Flex"/>
              <a:ea typeface="Google Sans Flex"/>
              <a:cs typeface="Google Sans Flex"/>
            </a:endParaRPr>
          </a:p>
        </p:txBody>
      </p:sp>
      <p:pic>
        <p:nvPicPr>
          <p:cNvPr id="55" name="Google Shape;55;p13">
            <a:extLst xmlns:a="http://schemas.openxmlformats.org/drawingml/2006/main">
              <a:ext uri="{FF2B5EF4-FFF2-40B4-BE49-F238E27FC236}">
                <a16:creationId xmlns:a16="http://schemas.microsoft.com/office/drawing/2014/main" id="{DA5C973C-674C-42D1-BF07-CF3A2915F5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ef638a18e04bf2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3"/>
            <a:ext cx="9144000" cy="271552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6" name="Google Shape;56;p13">
            <a:extLst xmlns:a="http://schemas.openxmlformats.org/drawingml/2006/main">
              <a:ext uri="{FF2B5EF4-FFF2-40B4-BE49-F238E27FC236}">
                <a16:creationId xmlns:a16="http://schemas.microsoft.com/office/drawing/2014/main" id="{ED0F7942-F5AA-490F-9B7E-E7048FAE4E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da9e772ca6640ed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276CE88-1511-4D34-B068-9663140D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72000"/>
            <a:ext cx="838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35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35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DRAFT • Future of Work &amp; Enterprise Productivity • Local evidence</a:t>
            </a:r>
          </a:p>
        </p:txBody>
      </p:sp>
    </p:spTree>
    <p:extLst>
      <p:ext uri="{BB962C8B-B14F-4D97-AF65-F5344CB8AC3E}">
        <p14:creationId xmlns:p14="http://schemas.microsoft.com/office/powerpoint/2010/main" val="44250777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1" name="Google Shape;61;p14">
            <a:extLst xmlns:a="http://schemas.openxmlformats.org/drawingml/2006/main">
              <a:ext uri="{FF2B5EF4-FFF2-40B4-BE49-F238E27FC236}">
                <a16:creationId xmlns:a16="http://schemas.microsoft.com/office/drawing/2014/main" id="{FF39A714-C325-468A-B57C-D07A6D63C5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87c598f3ba8474d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2" name="Google Shape;62;p14">
            <a:extLst xmlns:a="http://schemas.openxmlformats.org/drawingml/2006/main">
              <a:ext uri="{FF2B5EF4-FFF2-40B4-BE49-F238E27FC236}">
                <a16:creationId xmlns:a16="http://schemas.microsoft.com/office/drawing/2014/main" id="{394BD842-B5E6-46F3-B4D0-8E31E36C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>
            <a:extLst xmlns:a="http://schemas.openxmlformats.org/drawingml/2006/main">
              <a:ext uri="{FF2B5EF4-FFF2-40B4-BE49-F238E27FC236}">
                <a16:creationId xmlns:a16="http://schemas.microsoft.com/office/drawing/2014/main" id="{7F16C513-3253-4B5A-B1F3-EE3EDE19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2475" y="1968750"/>
            <a:ext cx="3311400" cy="120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</a:rPr>
              <a:t>Note:</a:t>
            </a:r>
            <a:r>
              <a:rPr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rPr>
              <a:t> Please download this template to make your edits and submit the final version.</a:t>
            </a:r>
            <a:br>
              <a:rPr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rPr>
            </a:br>
            <a:br>
              <a:rPr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rPr>
            </a:br>
            <a:r>
              <a:rPr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rPr>
              <a:t>To download, go to File &gt; Download &gt; Microsoft PowerPoint (.PPTX). Kindly refrain from sending edit requests.</a:t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</a:endParaRPr>
          </a:p>
        </p:txBody>
      </p:sp>
      <p:pic>
        <p:nvPicPr>
          <p:cNvPr id="64" name="Google Shape;64;p14">
            <a:extLst xmlns:a="http://schemas.openxmlformats.org/drawingml/2006/main">
              <a:ext uri="{FF2B5EF4-FFF2-40B4-BE49-F238E27FC236}">
                <a16:creationId xmlns:a16="http://schemas.microsoft.com/office/drawing/2014/main" id="{2AF86A5E-23AB-47ED-8A96-ACBCADA5D7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02238c1ab8468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4203" y="1194675"/>
            <a:ext cx="3604250" cy="26217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  <a:effectLst xmlns:a="http://schemas.openxmlformats.org/drawingml/2006/main">
            <a:outerShdw blurRad="971550" dist="19050" dir="5400000" algn="bl" rotWithShape="0">
              <a:schemeClr val="lt1">
                <a:alpha val="5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93065425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9" name="Google Shape;69;p15">
            <a:extLst xmlns:a="http://schemas.openxmlformats.org/drawingml/2006/main">
              <a:ext uri="{FF2B5EF4-FFF2-40B4-BE49-F238E27FC236}">
                <a16:creationId xmlns:a16="http://schemas.microsoft.com/office/drawing/2014/main" id="{1ED92BE5-4B80-4976-B709-A670482097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ae134ca8cf413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0" name="Google Shape;70;p15">
            <a:extLst xmlns:a="http://schemas.openxmlformats.org/drawingml/2006/main">
              <a:ext uri="{FF2B5EF4-FFF2-40B4-BE49-F238E27FC236}">
                <a16:creationId xmlns:a16="http://schemas.microsoft.com/office/drawing/2014/main" id="{544B2B91-422C-4999-856F-4D5A01D5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>
            <a:extLst xmlns:a="http://schemas.openxmlformats.org/drawingml/2006/main">
              <a:ext uri="{FF2B5EF4-FFF2-40B4-BE49-F238E27FC236}">
                <a16:creationId xmlns:a16="http://schemas.microsoft.com/office/drawing/2014/main" id="{61857C8D-FD1F-4AEF-AAF6-CC145AF3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50" y="663825"/>
            <a:ext cx="8943000" cy="56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latin typeface="Google Sans Flex Medium"/>
                <a:ea typeface="Google Sans Flex Medium"/>
                <a:cs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28229FB-CCBF-4414-A466-EA6E27DB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28750"/>
            <a:ext cx="83820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7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One founder workspace for turning an idea into research, a reviewable offer, and a delivery plan.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Samurai retains company context, sources, decisions, and artifacts across stages.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The founder reviews the next decision. Missing or conflicting evidence remains visible.</a:t>
            </a:r>
          </a:p>
        </p:txBody>
      </p:sp>
    </p:spTree>
    <p:extLst>
      <p:ext uri="{BB962C8B-B14F-4D97-AF65-F5344CB8AC3E}">
        <p14:creationId xmlns:p14="http://schemas.microsoft.com/office/powerpoint/2010/main" val="153578391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6" name="Google Shape;76;p16">
            <a:extLst xmlns:a="http://schemas.openxmlformats.org/drawingml/2006/main">
              <a:ext uri="{FF2B5EF4-FFF2-40B4-BE49-F238E27FC236}">
                <a16:creationId xmlns:a16="http://schemas.microsoft.com/office/drawing/2014/main" id="{31F67B31-3EE1-4618-9981-D9B1FD6D8C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346c6e11cbf4404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7" name="Google Shape;77;p16">
            <a:extLst xmlns:a="http://schemas.openxmlformats.org/drawingml/2006/main">
              <a:ext uri="{FF2B5EF4-FFF2-40B4-BE49-F238E27FC236}">
                <a16:creationId xmlns:a16="http://schemas.microsoft.com/office/drawing/2014/main" id="{409E6D12-3239-4B82-A95C-1088582426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e670d3a500424d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8" name="Google Shape;78;p16">
            <a:extLst xmlns:a="http://schemas.openxmlformats.org/drawingml/2006/main">
              <a:ext uri="{FF2B5EF4-FFF2-40B4-BE49-F238E27FC236}">
                <a16:creationId xmlns:a16="http://schemas.microsoft.com/office/drawing/2014/main" id="{9751326E-FE12-4679-AC21-DCEE5B0F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>
            <a:extLst xmlns:a="http://schemas.openxmlformats.org/drawingml/2006/main">
              <a:ext uri="{FF2B5EF4-FFF2-40B4-BE49-F238E27FC236}">
                <a16:creationId xmlns:a16="http://schemas.microsoft.com/office/drawing/2014/main" id="{586F5BAA-0A10-44C0-B17B-6A8CAE6E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50" y="663825"/>
            <a:ext cx="8943000" cy="136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latin typeface="Google Sans Flex SemiBold"/>
                <a:ea typeface="Google Sans Flex SemiBold"/>
                <a:cs typeface="Google Sans Flex SemiBold"/>
              </a:rPr>
              <a:t>Opportunities</a:t>
            </a:r>
            <a:endParaRPr sz="1600">
              <a:latin typeface="Google Sans Flex SemiBold"/>
              <a:ea typeface="Google Sans Flex SemiBold"/>
              <a:cs typeface="Google Sans Flex SemiBold"/>
            </a:endParaRP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02178B8-0304-4104-83AF-34C293709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28750"/>
            <a:ext cx="8382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A connected workflow: specialists share revisioned company context instead of producing isolated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Evidence before confidence: source adjudication checks cited content; unsupported claims stay unverified.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Founder control: accepted stages persist, and consequential external actions require approval.</a:t>
            </a:r>
          </a:p>
        </p:txBody>
      </p:sp>
    </p:spTree>
    <p:extLst>
      <p:ext uri="{BB962C8B-B14F-4D97-AF65-F5344CB8AC3E}">
        <p14:creationId xmlns:p14="http://schemas.microsoft.com/office/powerpoint/2010/main" val="204793374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4" name="Google Shape;84;p17">
            <a:extLst xmlns:a="http://schemas.openxmlformats.org/drawingml/2006/main">
              <a:ext uri="{FF2B5EF4-FFF2-40B4-BE49-F238E27FC236}">
                <a16:creationId xmlns:a16="http://schemas.microsoft.com/office/drawing/2014/main" id="{ED48182B-CEC1-4AA2-93DD-254BB52F7D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edddb7a90a64d48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5" name="Google Shape;85;p17">
            <a:extLst xmlns:a="http://schemas.openxmlformats.org/drawingml/2006/main">
              <a:ext uri="{FF2B5EF4-FFF2-40B4-BE49-F238E27FC236}">
                <a16:creationId xmlns:a16="http://schemas.microsoft.com/office/drawing/2014/main" id="{84E39B78-7DAA-40ED-9C09-600B286CFA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4c2ff85215444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6" name="Google Shape;86;p17">
            <a:extLst xmlns:a="http://schemas.openxmlformats.org/drawingml/2006/main">
              <a:ext uri="{FF2B5EF4-FFF2-40B4-BE49-F238E27FC236}">
                <a16:creationId xmlns:a16="http://schemas.microsoft.com/office/drawing/2014/main" id="{18F7618A-A66C-4F2F-9F45-A50679D5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>
            <a:extLst xmlns:a="http://schemas.openxmlformats.org/drawingml/2006/main">
              <a:ext uri="{FF2B5EF4-FFF2-40B4-BE49-F238E27FC236}">
                <a16:creationId xmlns:a16="http://schemas.microsoft.com/office/drawing/2014/main" id="{2A29D300-4402-4A78-8D54-7E3A10AD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50" y="663825"/>
            <a:ext cx="8943000" cy="56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latin typeface="Google Sans Flex Medium"/>
                <a:ea typeface="Google Sans Flex Medium"/>
                <a:cs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D16F8FA-A07B-45DC-B111-9EB4E8D7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33500"/>
            <a:ext cx="8382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Locally accepted</a:t>
            </a:r>
          </a:p>
          <a:p xmlns:a="http://schemas.openxmlformats.org/drawingml/2006/main">
            <a:pPr>
              <a:def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Workspace membership • company revision fencing • quotas and files</a:t>
            </a:r>
          </a:p>
          <a:p xmlns:a="http://schemas.openxmlformats.org/drawingml/2006/main">
            <a:pPr>
              <a:def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Founder context • offer diagnostics • scoped knowledge</a:t>
            </a:r>
          </a:p>
          <a:p xmlns:a="http://schemas.openxmlformats.org/drawingml/2006/main">
            <a:pPr>
              <a:def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Explicit learning • bounded schedules • synthetic scenarios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Reliability</a:t>
            </a:r>
          </a:p>
          <a:p xmlns:a="http://schemas.openxmlformats.org/drawingml/2006/main">
            <a:pPr>
              <a:def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One automatic retry • duplicate-write protection • cancellation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These local results do not establish current cloud deployment.</a:t>
            </a:r>
          </a:p>
        </p:txBody>
      </p:sp>
    </p:spTree>
    <p:extLst>
      <p:ext uri="{BB962C8B-B14F-4D97-AF65-F5344CB8AC3E}">
        <p14:creationId xmlns:p14="http://schemas.microsoft.com/office/powerpoint/2010/main" val="207907909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2" name="Google Shape;92;p18">
            <a:extLst xmlns:a="http://schemas.openxmlformats.org/drawingml/2006/main">
              <a:ext uri="{FF2B5EF4-FFF2-40B4-BE49-F238E27FC236}">
                <a16:creationId xmlns:a16="http://schemas.microsoft.com/office/drawing/2014/main" id="{20AD3A57-B3F0-4161-AC00-122225C927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de4dd8002f34fbe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3" name="Google Shape;93;p18">
            <a:extLst xmlns:a="http://schemas.openxmlformats.org/drawingml/2006/main">
              <a:ext uri="{FF2B5EF4-FFF2-40B4-BE49-F238E27FC236}">
                <a16:creationId xmlns:a16="http://schemas.microsoft.com/office/drawing/2014/main" id="{F697457A-B3C1-4FF6-BE32-68B3CB5BF6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6769e51b594b1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4" name="Google Shape;94;p18">
            <a:extLst xmlns:a="http://schemas.openxmlformats.org/drawingml/2006/main">
              <a:ext uri="{FF2B5EF4-FFF2-40B4-BE49-F238E27FC236}">
                <a16:creationId xmlns:a16="http://schemas.microsoft.com/office/drawing/2014/main" id="{9CF22430-0DC7-4892-8901-62AE8246C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>
            <a:extLst xmlns:a="http://schemas.openxmlformats.org/drawingml/2006/main">
              <a:ext uri="{FF2B5EF4-FFF2-40B4-BE49-F238E27FC236}">
                <a16:creationId xmlns:a16="http://schemas.microsoft.com/office/drawing/2014/main" id="{B1FA4B79-C09C-4C11-BD7B-ECCF617C2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50" y="663825"/>
            <a:ext cx="8943000" cy="56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latin typeface="Google Sans Flex Medium"/>
                <a:ea typeface="Google Sans Flex Medium"/>
                <a:cs typeface="Google Sans Flex Medium"/>
              </a:rPr>
              <a:t>Process flow diagram or Use-case diagram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2F72CE4-960D-40D9-A0E2-1F22A43D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8382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7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Founder brief  →  Research  →  Source adjudication</a:t>
            </a:r>
          </a:p>
          <a:p xmlns:a="http://schemas.openxmlformats.org/drawingml/2006/main">
            <a:pPr>
              <a:defRPr sz="187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                                      ↓</a:t>
            </a:r>
          </a:p>
          <a:p xmlns:a="http://schemas.openxmlformats.org/drawingml/2006/main">
            <a:pPr>
              <a:defRPr sz="187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                     Verifier and founder decision</a:t>
            </a:r>
          </a:p>
          <a:p xmlns:a="http://schemas.openxmlformats.org/drawingml/2006/main">
            <a:pPr>
              <a:defRPr sz="187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                         ↓                    ↓</a:t>
            </a:r>
          </a:p>
          <a:p xmlns:a="http://schemas.openxmlformats.org/drawingml/2006/main">
            <a:pPr>
              <a:defRPr sz="187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               Evidence sufficient     Missing / conflicting</a:t>
            </a:r>
          </a:p>
          <a:p xmlns:a="http://schemas.openxmlformats.org/drawingml/2006/main">
            <a:pPr>
              <a:defRPr sz="187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                         ↓                    ↓</a:t>
            </a:r>
          </a:p>
          <a:p xmlns:a="http://schemas.openxmlformats.org/drawingml/2006/main">
            <a:pPr>
              <a:defRPr sz="187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                Strategy and plan       Rework / clarify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F97C07F-CBC9-43DA-A8E5-69D4887D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333875"/>
            <a:ext cx="838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5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Accepted stages and their provenance persist; interrupted work resumes under revision and attempt fences.</a:t>
            </a:r>
          </a:p>
        </p:txBody>
      </p:sp>
    </p:spTree>
    <p:extLst>
      <p:ext uri="{BB962C8B-B14F-4D97-AF65-F5344CB8AC3E}">
        <p14:creationId xmlns:p14="http://schemas.microsoft.com/office/powerpoint/2010/main" val="83640585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0" name="Google Shape;100;p19">
            <a:extLst xmlns:a="http://schemas.openxmlformats.org/drawingml/2006/main">
              <a:ext uri="{FF2B5EF4-FFF2-40B4-BE49-F238E27FC236}">
                <a16:creationId xmlns:a16="http://schemas.microsoft.com/office/drawing/2014/main" id="{54984A1E-93C7-409F-97EC-5BCCDA3C36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5e6e815deb0453e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" name="Google Shape;101;p19">
            <a:extLst xmlns:a="http://schemas.openxmlformats.org/drawingml/2006/main">
              <a:ext uri="{FF2B5EF4-FFF2-40B4-BE49-F238E27FC236}">
                <a16:creationId xmlns:a16="http://schemas.microsoft.com/office/drawing/2014/main" id="{DEA1C212-23DB-483B-907E-CD3192D3A9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419a5208f7453d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2" name="Google Shape;102;p19">
            <a:extLst xmlns:a="http://schemas.openxmlformats.org/drawingml/2006/main">
              <a:ext uri="{FF2B5EF4-FFF2-40B4-BE49-F238E27FC236}">
                <a16:creationId xmlns:a16="http://schemas.microsoft.com/office/drawing/2014/main" id="{B76F2E0E-24CB-45D4-AF51-CC71DA44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>
            <a:extLst xmlns:a="http://schemas.openxmlformats.org/drawingml/2006/main">
              <a:ext uri="{FF2B5EF4-FFF2-40B4-BE49-F238E27FC236}">
                <a16:creationId xmlns:a16="http://schemas.microsoft.com/office/drawing/2014/main" id="{637C4EC1-7563-4DB1-8014-B6097CD92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50" y="663825"/>
            <a:ext cx="8943000" cy="56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latin typeface="Google Sans Flex Medium"/>
                <a:ea typeface="Google Sans Flex Medium"/>
                <a:cs typeface="Google Sans Flex Medium"/>
              </a:rPr>
              <a:t>Wireframes/Mock diagrams of the proposed solution (optional)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E4DC99E-4B79-4DCA-837F-01221068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0"/>
            <a:ext cx="8382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7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The implemented founder workspace is shown on slide 11.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It combines conversation, company context, and typed business panels. Views distinguish assumptions, supported claims, and synthetic calculations.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This draft uses an accepted local fixture capture, not a live customer or cloud demonstration.</a:t>
            </a:r>
          </a:p>
        </p:txBody>
      </p:sp>
    </p:spTree>
    <p:extLst>
      <p:ext uri="{BB962C8B-B14F-4D97-AF65-F5344CB8AC3E}">
        <p14:creationId xmlns:p14="http://schemas.microsoft.com/office/powerpoint/2010/main" val="55915259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8" name="Google Shape;108;p20">
            <a:extLst xmlns:a="http://schemas.openxmlformats.org/drawingml/2006/main">
              <a:ext uri="{FF2B5EF4-FFF2-40B4-BE49-F238E27FC236}">
                <a16:creationId xmlns:a16="http://schemas.microsoft.com/office/drawing/2014/main" id="{F7836FCC-97A0-43A8-9D74-F220DD2437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c1e2f6ac78e40c4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9" name="Google Shape;109;p20">
            <a:extLst xmlns:a="http://schemas.openxmlformats.org/drawingml/2006/main">
              <a:ext uri="{FF2B5EF4-FFF2-40B4-BE49-F238E27FC236}">
                <a16:creationId xmlns:a16="http://schemas.microsoft.com/office/drawing/2014/main" id="{7B475C5A-40BA-4307-BF22-3555679790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1bc710e2b84813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0" name="Google Shape;110;p20">
            <a:extLst xmlns:a="http://schemas.openxmlformats.org/drawingml/2006/main">
              <a:ext uri="{FF2B5EF4-FFF2-40B4-BE49-F238E27FC236}">
                <a16:creationId xmlns:a16="http://schemas.microsoft.com/office/drawing/2014/main" id="{8B1FDB98-011D-4281-8727-3354E6C7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>
            <a:extLst xmlns:a="http://schemas.openxmlformats.org/drawingml/2006/main">
              <a:ext uri="{FF2B5EF4-FFF2-40B4-BE49-F238E27FC236}">
                <a16:creationId xmlns:a16="http://schemas.microsoft.com/office/drawing/2014/main" id="{DE94FA38-866D-40DA-B381-A1E80365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50" y="663825"/>
            <a:ext cx="8943000" cy="56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latin typeface="Google Sans Flex Medium"/>
                <a:ea typeface="Google Sans Flex Medium"/>
                <a:cs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A08FE1A4-1F0E-40A7-9B95-0BA6688C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85875"/>
            <a:ext cx="8382000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Founder UI (React/Vite)</a:t>
            </a:r>
          </a:p>
          <a:p xmlns:a="http://schemas.openxmlformats.org/drawingml/2006/main">
            <a:pPr>
              <a:def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                  ↓</a:t>
            </a:r>
          </a:p>
          <a:p xmlns:a="http://schemas.openxmlformats.org/drawingml/2006/main">
            <a:pPr>
              <a:def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Server proxy: identity and allowlisted routes</a:t>
            </a:r>
          </a:p>
          <a:p xmlns:a="http://schemas.openxmlformats.org/drawingml/2006/main">
            <a:pPr>
              <a:def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                  ↓</a:t>
            </a:r>
          </a:p>
          <a:p xmlns:a="http://schemas.openxmlformats.org/drawingml/2006/main">
            <a:pPr>
              <a:def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Agno AgentOS: parent + explicit workflows + verifier</a:t>
            </a:r>
          </a:p>
          <a:p xmlns:a="http://schemas.openxmlformats.org/drawingml/2006/main">
            <a:pPr>
              <a:def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          ↓                         ↓</a:t>
            </a:r>
          </a:p>
          <a:p xmlns:a="http://schemas.openxmlformats.org/drawingml/2006/main">
            <a:pPr>
              <a:def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PostgreSQL                 Gemini reasoning</a:t>
            </a:r>
          </a:p>
          <a:p xmlns:a="http://schemas.openxmlformats.org/drawingml/2006/main">
            <a:pPr>
              <a:def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company state, jobs         Researcher-only Search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Agno ↔ Redis: events and cancellation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755BA1F-700A-4FAD-9268-91D21F51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476750"/>
            <a:ext cx="838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4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4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Local files today. Shared cloud coordination rollout is deferred; Cloud Storage is a future adapter.</a:t>
            </a:r>
          </a:p>
        </p:txBody>
      </p:sp>
    </p:spTree>
    <p:extLst>
      <p:ext uri="{BB962C8B-B14F-4D97-AF65-F5344CB8AC3E}">
        <p14:creationId xmlns:p14="http://schemas.microsoft.com/office/powerpoint/2010/main" val="206669307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6" name="Google Shape;116;p21">
            <a:extLst xmlns:a="http://schemas.openxmlformats.org/drawingml/2006/main">
              <a:ext uri="{FF2B5EF4-FFF2-40B4-BE49-F238E27FC236}">
                <a16:creationId xmlns:a16="http://schemas.microsoft.com/office/drawing/2014/main" id="{1F526703-FA72-4E3F-8D72-47A0C6C8F4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442533c16d94c61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7" name="Google Shape;117;p21">
            <a:extLst xmlns:a="http://schemas.openxmlformats.org/drawingml/2006/main">
              <a:ext uri="{FF2B5EF4-FFF2-40B4-BE49-F238E27FC236}">
                <a16:creationId xmlns:a16="http://schemas.microsoft.com/office/drawing/2014/main" id="{005F8329-193E-4631-BB5B-03AD74B0AF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288bac62034d1a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8" name="Google Shape;118;p21">
            <a:extLst xmlns:a="http://schemas.openxmlformats.org/drawingml/2006/main">
              <a:ext uri="{FF2B5EF4-FFF2-40B4-BE49-F238E27FC236}">
                <a16:creationId xmlns:a16="http://schemas.microsoft.com/office/drawing/2014/main" id="{5EE52D6D-4249-40EE-B848-7058C342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>
            <a:extLst xmlns:a="http://schemas.openxmlformats.org/drawingml/2006/main">
              <a:ext uri="{FF2B5EF4-FFF2-40B4-BE49-F238E27FC236}">
                <a16:creationId xmlns:a16="http://schemas.microsoft.com/office/drawing/2014/main" id="{3B99B360-DBBE-491E-90D0-E979154AA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50" y="663825"/>
            <a:ext cx="8943000" cy="56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latin typeface="Google Sans Flex Medium"/>
                <a:ea typeface="Google Sans Flex Medium"/>
                <a:cs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70EB6F89-C3F9-46A8-9C78-92F84462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8382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Python + Agno AgentOS: explicit staged workflows and persistence</a:t>
            </a:r>
          </a:p>
          <a:p xmlns:a="http://schemas.openxmlformats.org/drawingml/2006/main">
            <a:pPr>
              <a:def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Gemini: bounded reasoning; native Search for Researcher only</a:t>
            </a:r>
          </a:p>
          <a:p xmlns:a="http://schemas.openxmlformats.org/drawingml/2006/main">
            <a:pPr>
              <a:def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PostgreSQL: canonical company state, artifacts, and durable jobs</a:t>
            </a:r>
          </a:p>
          <a:p xmlns:a="http://schemas.openxmlformats.org/drawingml/2006/main">
            <a:pPr>
              <a:def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Redis: local coordination for recovery and cancellation</a:t>
            </a:r>
          </a:p>
          <a:p xmlns:a="http://schemas.openxmlformats.org/drawingml/2006/main">
            <a:pPr>
              <a:def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React/Vite + TypeScript: typed founder views and server proxy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Historical Google deployment: Cloud Run, Cloud SQL, and IAP.</a:t>
            </a:r>
          </a:p>
          <a:p xmlns:a="http://schemas.openxmlformats.org/drawingml/2006/main">
            <a:pPr>
              <a:def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The current local candidate has not been deployed.</a:t>
            </a:r>
          </a:p>
        </p:txBody>
      </p:sp>
    </p:spTree>
    <p:extLst>
      <p:ext uri="{BB962C8B-B14F-4D97-AF65-F5344CB8AC3E}">
        <p14:creationId xmlns:p14="http://schemas.microsoft.com/office/powerpoint/2010/main" val="128659665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4" name="Google Shape;124;p22">
            <a:extLst xmlns:a="http://schemas.openxmlformats.org/drawingml/2006/main">
              <a:ext uri="{FF2B5EF4-FFF2-40B4-BE49-F238E27FC236}">
                <a16:creationId xmlns:a16="http://schemas.microsoft.com/office/drawing/2014/main" id="{D9A29BAA-5438-48BC-A3EB-62ABF336E0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513fc1cf437473b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25" name="Google Shape;125;p22">
            <a:extLst xmlns:a="http://schemas.openxmlformats.org/drawingml/2006/main">
              <a:ext uri="{FF2B5EF4-FFF2-40B4-BE49-F238E27FC236}">
                <a16:creationId xmlns:a16="http://schemas.microsoft.com/office/drawing/2014/main" id="{58BB6506-DBE6-406A-A74A-722FDB80C1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3b84c6a8d944c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6" name="Google Shape;126;p22">
            <a:extLst xmlns:a="http://schemas.openxmlformats.org/drawingml/2006/main">
              <a:ext uri="{FF2B5EF4-FFF2-40B4-BE49-F238E27FC236}">
                <a16:creationId xmlns:a16="http://schemas.microsoft.com/office/drawing/2014/main" id="{F68CA65A-41F7-4A82-BF3A-C63FFD49F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>
            <a:extLst xmlns:a="http://schemas.openxmlformats.org/drawingml/2006/main">
              <a:ext uri="{FF2B5EF4-FFF2-40B4-BE49-F238E27FC236}">
                <a16:creationId xmlns:a16="http://schemas.microsoft.com/office/drawing/2014/main" id="{CAC3D1C7-5C1A-440D-A985-FB68DEF7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50" y="663825"/>
            <a:ext cx="8943000" cy="56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latin typeface="Google Sans Flex Medium"/>
                <a:ea typeface="Google Sans Flex Medium"/>
                <a:cs typeface="Google Sans Flex Medium"/>
              </a:rPr>
              <a:t>Estimated implementation cost (optional)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C4AA35A5-1ED8-4589-9B40-3D11BFD2D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28750"/>
            <a:ext cx="8382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Cost controls</a:t>
            </a:r>
          </a:p>
          <a:p xmlns:a="http://schemas.openxmlformats.org/drawingml/2006/main">
            <a:pPr>
              <a:def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Bounded attempts, company admission, quotas, and test fixtures</a:t>
            </a:r>
          </a:p>
          <a:p xmlns:a="http://schemas.openxmlformats.org/drawingml/2006/main">
            <a:pPr>
              <a:def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Provider-free local acceptance; no new Gemini spend in these checks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Paid cloud recovery upgrade: deferred by the founder</a:t>
            </a:r>
          </a:p>
          <a:p xmlns:a="http://schemas.openxmlformats.org/drawingml/2006/main">
            <a:pPr>
              <a:def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Current spend and an approved recurring budget: not established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Hosting estimates require a refreshed inventory and authorization.</a:t>
            </a:r>
          </a:p>
          <a:p xmlns:a="http://schemas.openxmlformats.org/drawingml/2006/main">
            <a:pPr>
              <a:def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No claim of zero-cost hosting or a guaranteed spending cap.</a:t>
            </a:r>
          </a:p>
        </p:txBody>
      </p:sp>
    </p:spTree>
    <p:extLst>
      <p:ext uri="{BB962C8B-B14F-4D97-AF65-F5344CB8AC3E}">
        <p14:creationId xmlns:p14="http://schemas.microsoft.com/office/powerpoint/2010/main" val="10039920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2" name="Google Shape;132;p23">
            <a:extLst xmlns:a="http://schemas.openxmlformats.org/drawingml/2006/main">
              <a:ext uri="{FF2B5EF4-FFF2-40B4-BE49-F238E27FC236}">
                <a16:creationId xmlns:a16="http://schemas.microsoft.com/office/drawing/2014/main" id="{EB426274-CA6E-45BD-B3DE-21A858F2DF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fa54be6f2c3458d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3" name="Google Shape;133;p23">
            <a:extLst xmlns:a="http://schemas.openxmlformats.org/drawingml/2006/main">
              <a:ext uri="{FF2B5EF4-FFF2-40B4-BE49-F238E27FC236}">
                <a16:creationId xmlns:a16="http://schemas.microsoft.com/office/drawing/2014/main" id="{67829133-B80A-4848-B3D6-BB26ECA031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3a755faebd4e9d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4" name="Google Shape;134;p23">
            <a:extLst xmlns:a="http://schemas.openxmlformats.org/drawingml/2006/main">
              <a:ext uri="{FF2B5EF4-FFF2-40B4-BE49-F238E27FC236}">
                <a16:creationId xmlns:a16="http://schemas.microsoft.com/office/drawing/2014/main" id="{63870DAF-7A6F-4B7E-8E6F-17BBE20E7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>
            <a:extLst xmlns:a="http://schemas.openxmlformats.org/drawingml/2006/main">
              <a:ext uri="{FF2B5EF4-FFF2-40B4-BE49-F238E27FC236}">
                <a16:creationId xmlns:a16="http://schemas.microsoft.com/office/drawing/2014/main" id="{EC2DCAE5-C0C8-4D52-B606-F62375FB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50" y="663825"/>
            <a:ext cx="8943000" cy="56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latin typeface="Google Sans Flex Medium"/>
                <a:ea typeface="Google Sans Flex Medium"/>
                <a:cs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pic>
        <p:nvPic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1CF0C60A-0FA4-405D-BCAE-5F7CBC6543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46d84a6f314da7"/>
          <a:stretch xmlns:a="http://schemas.openxmlformats.org/drawingml/2006/main"/>
        </p:blipFill>
        <p:spPr>
          <a:xfrm xmlns:a="http://schemas.openxmlformats.org/drawingml/2006/main">
            <a:off x="1958367" y="1238250"/>
            <a:ext cx="5227266" cy="3476625"/>
          </a:xfrm>
          <a:prstGeom xmlns:a="http://schemas.openxmlformats.org/drawingml/2006/main" prst="rect">
            <a:avLst/>
          </a:prstGeom>
        </p:spPr>
      </p:pic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352BE77F-D773-4119-8D7E-574F13A0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762500"/>
            <a:ext cx="838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1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1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Accepted Task 20 local fixture capture; visible “Live” is the UI mode, not cloud deployment or real business data.</a:t>
            </a:r>
          </a:p>
        </p:txBody>
      </p:sp>
    </p:spTree>
    <p:extLst>
      <p:ext uri="{BB962C8B-B14F-4D97-AF65-F5344CB8AC3E}">
        <p14:creationId xmlns:p14="http://schemas.microsoft.com/office/powerpoint/2010/main" val="148442320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0" name="Google Shape;140;p24">
            <a:extLst xmlns:a="http://schemas.openxmlformats.org/drawingml/2006/main">
              <a:ext uri="{FF2B5EF4-FFF2-40B4-BE49-F238E27FC236}">
                <a16:creationId xmlns:a16="http://schemas.microsoft.com/office/drawing/2014/main" id="{BA046D2B-F02D-409D-B59C-5C422466FD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acfb68f9cd84ef0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1" name="Google Shape;141;p24">
            <a:extLst xmlns:a="http://schemas.openxmlformats.org/drawingml/2006/main">
              <a:ext uri="{FF2B5EF4-FFF2-40B4-BE49-F238E27FC236}">
                <a16:creationId xmlns:a16="http://schemas.microsoft.com/office/drawing/2014/main" id="{D37A061E-68BF-4073-A19F-9D607CCB87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c2c34fa6a34c07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2" name="Google Shape;142;p24">
            <a:extLst xmlns:a="http://schemas.openxmlformats.org/drawingml/2006/main">
              <a:ext uri="{FF2B5EF4-FFF2-40B4-BE49-F238E27FC236}">
                <a16:creationId xmlns:a16="http://schemas.microsoft.com/office/drawing/2014/main" id="{A2E5B6E1-C352-47CA-9048-9BD2D014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>
            <a:extLst xmlns:a="http://schemas.openxmlformats.org/drawingml/2006/main">
              <a:ext uri="{FF2B5EF4-FFF2-40B4-BE49-F238E27FC236}">
                <a16:creationId xmlns:a16="http://schemas.microsoft.com/office/drawing/2014/main" id="{DDB18441-A6A2-4F96-B014-19DDC85E9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50" y="663825"/>
            <a:ext cx="8943000" cy="56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latin typeface="Google Sans Flex Medium"/>
                <a:ea typeface="Google Sans Flex Medium"/>
                <a:cs typeface="Google Sans Flex Medium"/>
              </a:rPr>
              <a:t>Prototype Performance report/Benchmarking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CD9EB690-1870-47AA-913C-55A320E5A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8382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Correctness checks at the accepted local production tree</a:t>
            </a:r>
          </a:p>
          <a:p xmlns:a="http://schemas.openxmlformats.org/drawingml/2006/main">
            <a:pPr>
              <a:defRPr sz="18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554 backend tests • 150 frontend tests</a:t>
            </a:r>
          </a:p>
          <a:p xmlns:a="http://schemas.openxmlformats.org/drawingml/2006/main">
            <a:pPr>
              <a:defRPr sz="18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60 server tests • 4 Sites tests • 40 provider-free evaluations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Observed recovery</a:t>
            </a:r>
          </a:p>
          <a:p xmlns:a="http://schemas.openxmlformats.org/drawingml/2006/main">
            <a:pPr>
              <a:defRPr sz="18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One scheduled result; no duplicate receipt on replay</a:t>
            </a:r>
          </a:p>
          <a:p xmlns:a="http://schemas.openxmlformats.org/drawingml/2006/main">
            <a:pPr>
              <a:defRPr sz="18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Stable company and result hashes after backend restart and reload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Latency, throughput, cost per task, and business impact: unmeasured.</a:t>
            </a:r>
          </a:p>
        </p:txBody>
      </p:sp>
    </p:spTree>
    <p:extLst>
      <p:ext uri="{BB962C8B-B14F-4D97-AF65-F5344CB8AC3E}">
        <p14:creationId xmlns:p14="http://schemas.microsoft.com/office/powerpoint/2010/main" val="139110147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8" name="Google Shape;148;p25">
            <a:extLst xmlns:a="http://schemas.openxmlformats.org/drawingml/2006/main">
              <a:ext uri="{FF2B5EF4-FFF2-40B4-BE49-F238E27FC236}">
                <a16:creationId xmlns:a16="http://schemas.microsoft.com/office/drawing/2014/main" id="{F2AA0EAD-B4DD-4268-915C-C275636146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b58b29434314cf2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9" name="Google Shape;149;p25">
            <a:extLst xmlns:a="http://schemas.openxmlformats.org/drawingml/2006/main">
              <a:ext uri="{FF2B5EF4-FFF2-40B4-BE49-F238E27FC236}">
                <a16:creationId xmlns:a16="http://schemas.microsoft.com/office/drawing/2014/main" id="{FC9E6E19-DB4B-4A52-BC79-50A236B88F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67a7282d4f4e0e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0" name="Google Shape;150;p25">
            <a:extLst xmlns:a="http://schemas.openxmlformats.org/drawingml/2006/main">
              <a:ext uri="{FF2B5EF4-FFF2-40B4-BE49-F238E27FC236}">
                <a16:creationId xmlns:a16="http://schemas.microsoft.com/office/drawing/2014/main" id="{02816554-CB47-4B62-9889-7026B36B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>
            <a:extLst xmlns:a="http://schemas.openxmlformats.org/drawingml/2006/main">
              <a:ext uri="{FF2B5EF4-FFF2-40B4-BE49-F238E27FC236}">
                <a16:creationId xmlns:a16="http://schemas.microsoft.com/office/drawing/2014/main" id="{1BB0C388-95F3-40EC-9C3B-144FBD73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50" y="663825"/>
            <a:ext cx="8943000" cy="56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latin typeface="Google Sans Flex Medium"/>
                <a:ea typeface="Google Sans Flex Medium"/>
                <a:cs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B4D3F619-3B71-4F91-A219-ABF97FB2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28750"/>
            <a:ext cx="8382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Before a production-readiness claim</a:t>
            </a:r>
          </a:p>
          <a:p xmlns:a="http://schemas.openxmlformats.org/drawingml/2006/main">
            <a:pPr>
              <a:def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Complete final integrated manual QA and local integration</a:t>
            </a:r>
          </a:p>
          <a:p xmlns:a="http://schemas.openxmlformats.org/drawingml/2006/main">
            <a:pPr>
              <a:def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Authorize and verify cloud queue rollout and isolated restore drill</a:t>
            </a:r>
          </a:p>
          <a:p xmlns:a="http://schemas.openxmlformats.org/drawingml/2006/main">
            <a:pPr>
              <a:def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Run bounded live source-supported business acceptance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Future work</a:t>
            </a:r>
          </a:p>
          <a:p xmlns:a="http://schemas.openxmlformats.org/drawingml/2006/main">
            <a:pPr>
              <a:def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Cloud Storage adapter and connected business measurements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No outreach, publishing, spending, or demand validation is implied.</a:t>
            </a:r>
          </a:p>
        </p:txBody>
      </p:sp>
    </p:spTree>
    <p:extLst>
      <p:ext uri="{BB962C8B-B14F-4D97-AF65-F5344CB8AC3E}">
        <p14:creationId xmlns:p14="http://schemas.microsoft.com/office/powerpoint/2010/main" val="204779107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6" name="Google Shape;156;p26">
            <a:extLst xmlns:a="http://schemas.openxmlformats.org/drawingml/2006/main">
              <a:ext uri="{FF2B5EF4-FFF2-40B4-BE49-F238E27FC236}">
                <a16:creationId xmlns:a16="http://schemas.microsoft.com/office/drawing/2014/main" id="{F65F0ECF-BEF7-4033-9D77-1C8011DCB3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a624e93952446f7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7" name="Google Shape;157;p26">
            <a:extLst xmlns:a="http://schemas.openxmlformats.org/drawingml/2006/main">
              <a:ext uri="{FF2B5EF4-FFF2-40B4-BE49-F238E27FC236}">
                <a16:creationId xmlns:a16="http://schemas.microsoft.com/office/drawing/2014/main" id="{5364BEA3-16B7-424A-9EF5-412BBEFF3D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a067c1ed744bc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8" name="Google Shape;158;p26">
            <a:extLst xmlns:a="http://schemas.openxmlformats.org/drawingml/2006/main">
              <a:ext uri="{FF2B5EF4-FFF2-40B4-BE49-F238E27FC236}">
                <a16:creationId xmlns:a16="http://schemas.microsoft.com/office/drawing/2014/main" id="{239D92E9-EC0D-4CAC-9EC3-C5CB13D1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>
            <a:extLst xmlns:a="http://schemas.openxmlformats.org/drawingml/2006/main">
              <a:ext uri="{FF2B5EF4-FFF2-40B4-BE49-F238E27FC236}">
                <a16:creationId xmlns:a16="http://schemas.microsoft.com/office/drawing/2014/main" id="{FF7DF8D7-04C4-441F-83CC-713A292B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50" y="663825"/>
            <a:ext cx="8943000" cy="133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latin typeface="Google Sans Flex Medium"/>
                <a:ea typeface="Google Sans Flex Medium"/>
                <a:cs typeface="Google Sans Flex Medium"/>
              </a:rPr>
              <a:t>Prototype and submission links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E5DA894D-F8A6-4511-B16E-1F244119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8382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Repository: OveRide-Phoenix/team-samurai</a:t>
            </a:r>
          </a:p>
          <a:p xmlns:a="http://schemas.openxmlformats.org/drawingml/2006/main">
            <a:pPr>
              <a:defRPr sz="18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Public visibility and final all-ref review: pending authorization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Demo video: not yet recorded or published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Product: restricted Google sign-in; evaluator access pending</a:t>
            </a:r>
          </a:p>
          <a:p xmlns:a="http://schemas.openxmlformats.org/drawingml/2006/main">
            <a:pPr>
              <a:defRPr sz="18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Current deployment revision and public links require verification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DRAFT — not ready to submit</a:t>
            </a:r>
          </a:p>
        </p:txBody>
      </p:sp>
    </p:spTree>
    <p:extLst>
      <p:ext uri="{BB962C8B-B14F-4D97-AF65-F5344CB8AC3E}">
        <p14:creationId xmlns:p14="http://schemas.microsoft.com/office/powerpoint/2010/main" val="188527326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4" name="Google Shape;164;p27">
            <a:extLst xmlns:a="http://schemas.openxmlformats.org/drawingml/2006/main">
              <a:ext uri="{FF2B5EF4-FFF2-40B4-BE49-F238E27FC236}">
                <a16:creationId xmlns:a16="http://schemas.microsoft.com/office/drawing/2014/main" id="{AAE22BC8-E876-401E-9258-5AE8B7E786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71c6fbc5ab948d4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65" name="Google Shape;165;p27">
            <a:extLst xmlns:a="http://schemas.openxmlformats.org/drawingml/2006/main">
              <a:ext uri="{FF2B5EF4-FFF2-40B4-BE49-F238E27FC236}">
                <a16:creationId xmlns:a16="http://schemas.microsoft.com/office/drawing/2014/main" id="{ED8CD6F5-EF51-4A5D-813A-B94F927757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45238e9ae74ab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66" name="Google Shape;166;p27">
            <a:extLst xmlns:a="http://schemas.openxmlformats.org/drawingml/2006/main">
              <a:ext uri="{FF2B5EF4-FFF2-40B4-BE49-F238E27FC236}">
                <a16:creationId xmlns:a16="http://schemas.microsoft.com/office/drawing/2014/main" id="{ACD0C024-2D59-4F23-B929-AF348A81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1203155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1" name="Google Shape;171;p28">
            <a:extLst xmlns:a="http://schemas.openxmlformats.org/drawingml/2006/main">
              <a:ext uri="{FF2B5EF4-FFF2-40B4-BE49-F238E27FC236}">
                <a16:creationId xmlns:a16="http://schemas.microsoft.com/office/drawing/2014/main" id="{D6CE5E24-85FB-4478-8D8B-B9FFC554F7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66407c648954905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72" name="Google Shape;172;p28">
            <a:extLst xmlns:a="http://schemas.openxmlformats.org/drawingml/2006/main">
              <a:ext uri="{FF2B5EF4-FFF2-40B4-BE49-F238E27FC236}">
                <a16:creationId xmlns:a16="http://schemas.microsoft.com/office/drawing/2014/main" id="{48DBAFE5-ACB9-4F26-BB3B-95F642474F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882110aaf1452d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1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2040076807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2026-10-15T20:46:56.1970000Z</dcterms:created>
  <dcterms:modified xsi:type="dcterms:W3CDTF">2026-10-15T20:46:56.1970000Z</dcterms:modified>
</coreProperties>
</file>